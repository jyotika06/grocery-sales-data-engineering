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59" r:id="rId11"/>
    <p:sldId id="266" r:id="rId12"/>
    <p:sldId id="276" r:id="rId13"/>
    <p:sldId id="271" r:id="rId14"/>
    <p:sldId id="269" r:id="rId15"/>
    <p:sldId id="270" r:id="rId16"/>
    <p:sldId id="273" r:id="rId17"/>
    <p:sldId id="27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depudi Sri Hema" userId="8ce6574daa8c6b43" providerId="LiveId" clId="{AAEC4983-FA80-4CDF-A7C1-490A26087865}"/>
    <pc:docChg chg="modSld">
      <pc:chgData name="Mandepudi Sri Hema" userId="8ce6574daa8c6b43" providerId="LiveId" clId="{AAEC4983-FA80-4CDF-A7C1-490A26087865}" dt="2026-09-11T08:22:59.368" v="100" actId="1036"/>
      <pc:docMkLst>
        <pc:docMk/>
      </pc:docMkLst>
      <pc:sldChg chg="modSp mod">
        <pc:chgData name="Mandepudi Sri Hema" userId="8ce6574daa8c6b43" providerId="LiveId" clId="{AAEC4983-FA80-4CDF-A7C1-490A26087865}" dt="2026-09-11T08:22:59.368" v="100" actId="1036"/>
        <pc:sldMkLst>
          <pc:docMk/>
          <pc:sldMk cId="258751046" sldId="257"/>
        </pc:sldMkLst>
        <pc:spChg chg="mod">
          <ac:chgData name="Mandepudi Sri Hema" userId="8ce6574daa8c6b43" providerId="LiveId" clId="{AAEC4983-FA80-4CDF-A7C1-490A26087865}" dt="2026-09-11T08:22:59.368" v="100" actId="1036"/>
          <ac:spMkLst>
            <pc:docMk/>
            <pc:sldMk cId="258751046" sldId="257"/>
            <ac:spMk id="2" creationId="{B8D18F58-7A54-432F-85FD-B5975F01245E}"/>
          </ac:spMkLst>
        </pc:spChg>
        <pc:spChg chg="mod">
          <ac:chgData name="Mandepudi Sri Hema" userId="8ce6574daa8c6b43" providerId="LiveId" clId="{AAEC4983-FA80-4CDF-A7C1-490A26087865}" dt="2026-09-11T08:22:38.202" v="98" actId="20577"/>
          <ac:spMkLst>
            <pc:docMk/>
            <pc:sldMk cId="258751046" sldId="257"/>
            <ac:spMk id="10" creationId="{09FE0CE8-083B-493B-88C4-218535035C4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8DB79-CC4C-4512-9466-76B8A62DFC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782E6B-1AEB-4AD1-8B78-8DA2F31E65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39DB1C-AAEA-49F3-ABCB-921C5EDCABF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9/11/2026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B8FA0C-D919-47CD-89D6-3A197E921B8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64899B-7CDC-4543-BA31-84245484933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A2987-EC56-41F4-9783-168B5CADE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C589EC-9524-4463-9AA0-788CD4AEE5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6D02DD-F0C4-4E09-A8F6-E907DF17298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9/11/2026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EF495-3A07-40B7-80F0-A8B5E6BE4AF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DFC5A2-C668-4136-8FF6-05ADDE19ABF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ADB5E-AEF1-4B17-9149-B9DD3C721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5EAD1D-EB92-4851-BE56-FA891AA7F1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CDA760-8952-468C-AFD2-C60CD3B5648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9/11/2026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BD9493-AF6D-48E1-A046-2BA5A47BDE2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860A41-E163-470A-94C7-831F604CF9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DCDCA-815F-4511-9E0D-D73AE0F18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4E4813-DD65-46B7-BBA0-2212411AB7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E319BA-2E72-4199-901C-51763B3D75B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057D07-8F62-48BD-8940-A6FC6A58746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9/11/2026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1B8A96-7AA5-4AE1-9F63-BB45528DD87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87CB63-F92D-4230-9023-A226831F203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B2582-92BA-4C0F-86C2-1E5FD09BF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5B3065-5617-4583-A716-D6563310A3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093169-9175-4187-A87A-DAE50E9318E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D6BE23-533C-4FC2-A432-E3F8C4978DE4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C936AF-1AA1-4243-99DB-C4725471D7CD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910C7A-9216-431F-AB5C-593E7DE636F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9/11/2026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9FB880-2884-4195-BF1F-CCFE9E918C9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C915AB-E288-4F88-BD3D-272B2C05C46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34086-9B88-4603-B4ED-D985473DB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622C3E-5589-4820-8F11-DC55EC4888E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9/11/2026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684B84-8788-41BF-A783-7A009337AAA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53EB6B-CB38-4AA5-96F2-190AFD45A4A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F5BCCE-B986-47E5-B806-99F936244C9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9/11/2026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87A591-3CE5-4698-A312-B99C7A190A5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117067-3CB3-4621-BD11-CFAA48654C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73C43-D9BB-4417-8DDD-A6738496A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BBB9-D920-4C56-BB65-8B79DE990B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109CE8-E7A3-4B71-8C04-46E7E72889A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2C9934-248C-4C03-8BDE-61C7FF1EA90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9/11/2026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004850-E33C-4605-B136-203583AB604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3A5BB4-84B8-4A8D-8B65-964898981CC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D36B7-2050-4745-8AD4-6CF1DABDC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4FA959-9848-44D5-B6F8-3D22F6498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775C65-3486-456B-9460-2C6E8A81D9B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35F090-909F-4425-BF72-A283EADAE32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9/11/2026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F7E6C8-A830-42C5-B86E-9064F706D13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A8B7B8-2038-4194-BB6F-991D519550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B85D7-5434-4DDB-B7B6-A83F24838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97BF57-4330-4A40-9D4A-E167E2877E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F28597-AF2B-4934-ACCC-BCD53CB650C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9/11/2026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DF3A6B-5405-406F-8F0B-C254BBF1349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383FA5-03CA-433A-9C1B-BC8E5CCF53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A12E84-8A49-4EC2-A5F1-01778A4A0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4E5CB2-8A9A-4B88-96C9-DE99C5A9F8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E88DB-B0BE-4B04-9C7E-F4FAF75D3D1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9/11/2026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918A4E-0C4A-488F-A7F5-E8866FDF72F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E50A0-E99E-4702-8D80-891851850B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54F1C1-1FFC-4F49-9355-C6356DAF6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6B8950-E33F-4539-B13F-D6266A6B66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1C2E3-56C3-4FD3-95F1-EFD138E30A6E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t>9/11/2026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8AA6C3-A485-4C59-97C4-611375DEBB6C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8C787-C1D0-404C-A5B4-020D1FF3D107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ACF3644-4C8F-47CC-953D-A441CAA3EFCC}"/>
              </a:ext>
            </a:extLst>
          </p:cNvPr>
          <p:cNvSpPr>
            <a:spLocks noGrp="1"/>
          </p:cNvSpPr>
          <p:nvPr/>
        </p:nvSpPr>
        <p:spPr>
          <a:xfrm>
            <a:off x="0" y="9144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26467E-FFA5-43C8-9B5B-6041CB34B6B3}"/>
              </a:ext>
            </a:extLst>
          </p:cNvPr>
          <p:cNvSpPr>
            <a:spLocks noGrp="1"/>
          </p:cNvSpPr>
          <p:nvPr/>
        </p:nvSpPr>
        <p:spPr>
          <a:xfrm>
            <a:off x="8046720" y="0"/>
            <a:ext cx="4144975" cy="6858000"/>
          </a:xfrm>
          <a:prstGeom prst="rect">
            <a:avLst/>
          </a:prstGeom>
          <a:solidFill>
            <a:srgbClr val="173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F5FABD8-280E-4FB5-9082-B51E6C9589B7}"/>
              </a:ext>
            </a:extLst>
          </p:cNvPr>
          <p:cNvSpPr>
            <a:spLocks noGrp="1"/>
          </p:cNvSpPr>
          <p:nvPr/>
        </p:nvSpPr>
        <p:spPr>
          <a:xfrm>
            <a:off x="8503920" y="731520"/>
            <a:ext cx="1280160" cy="1280160"/>
          </a:xfrm>
          <a:prstGeom prst="ellipse">
            <a:avLst/>
          </a:prstGeom>
          <a:solidFill>
            <a:srgbClr val="28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FD274C-C54D-410C-82E9-02B31B5FCCA9}"/>
              </a:ext>
            </a:extLst>
          </p:cNvPr>
          <p:cNvSpPr>
            <a:spLocks noGrp="1"/>
          </p:cNvSpPr>
          <p:nvPr/>
        </p:nvSpPr>
        <p:spPr>
          <a:xfrm>
            <a:off x="8503920" y="740664"/>
            <a:ext cx="1280160" cy="1261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+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6FA6EA0-5F24-4DC7-B386-618EAC57EFDA}"/>
              </a:ext>
            </a:extLst>
          </p:cNvPr>
          <p:cNvSpPr>
            <a:spLocks noGrp="1"/>
          </p:cNvSpPr>
          <p:nvPr/>
        </p:nvSpPr>
        <p:spPr>
          <a:xfrm>
            <a:off x="10058400" y="1554480"/>
            <a:ext cx="685800" cy="685800"/>
          </a:xfrm>
          <a:prstGeom prst="ellipse">
            <a:avLst/>
          </a:prstGeom>
          <a:solidFill>
            <a:srgbClr val="18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66161E-A464-41AD-AA74-424E77958C7D}"/>
              </a:ext>
            </a:extLst>
          </p:cNvPr>
          <p:cNvSpPr>
            <a:spLocks noGrp="1"/>
          </p:cNvSpPr>
          <p:nvPr/>
        </p:nvSpPr>
        <p:spPr>
          <a:xfrm>
            <a:off x="10058400" y="1563624"/>
            <a:ext cx="685800" cy="667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+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398EC8D-1F22-4760-B78A-A782CE21B1D6}"/>
              </a:ext>
            </a:extLst>
          </p:cNvPr>
          <p:cNvSpPr>
            <a:spLocks noGrp="1"/>
          </p:cNvSpPr>
          <p:nvPr/>
        </p:nvSpPr>
        <p:spPr>
          <a:xfrm>
            <a:off x="9144000" y="2834640"/>
            <a:ext cx="2011680" cy="2011680"/>
          </a:xfrm>
          <a:prstGeom prst="ellipse">
            <a:avLst/>
          </a:prstGeom>
          <a:solidFill>
            <a:srgbClr val="D46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0EA507-96A0-4B6D-8BD2-F3326DF73F12}"/>
              </a:ext>
            </a:extLst>
          </p:cNvPr>
          <p:cNvSpPr>
            <a:spLocks noGrp="1"/>
          </p:cNvSpPr>
          <p:nvPr/>
        </p:nvSpPr>
        <p:spPr>
          <a:xfrm>
            <a:off x="9144000" y="2843784"/>
            <a:ext cx="2011680" cy="19933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+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FA3E4C2-9897-48D1-A2FA-C2F07BF17D3C}"/>
              </a:ext>
            </a:extLst>
          </p:cNvPr>
          <p:cNvSpPr>
            <a:spLocks noGrp="1"/>
          </p:cNvSpPr>
          <p:nvPr/>
        </p:nvSpPr>
        <p:spPr>
          <a:xfrm>
            <a:off x="10561320" y="4206240"/>
            <a:ext cx="914400" cy="914400"/>
          </a:xfrm>
          <a:prstGeom prst="ellipse">
            <a:avLst/>
          </a:prstGeom>
          <a:solidFill>
            <a:srgbClr val="7B3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986E6E-DCB4-4773-AF9C-E020F49146B4}"/>
              </a:ext>
            </a:extLst>
          </p:cNvPr>
          <p:cNvSpPr>
            <a:spLocks noGrp="1"/>
          </p:cNvSpPr>
          <p:nvPr/>
        </p:nvSpPr>
        <p:spPr>
          <a:xfrm>
            <a:off x="10561320" y="4215383"/>
            <a:ext cx="91440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+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2424F8B-F073-44E3-9616-03579DA93A5E}"/>
              </a:ext>
            </a:extLst>
          </p:cNvPr>
          <p:cNvSpPr>
            <a:spLocks noGrp="1"/>
          </p:cNvSpPr>
          <p:nvPr/>
        </p:nvSpPr>
        <p:spPr>
          <a:xfrm>
            <a:off x="8412480" y="5029200"/>
            <a:ext cx="640080" cy="640080"/>
          </a:xfrm>
          <a:prstGeom prst="ellipse">
            <a:avLst/>
          </a:prstGeom>
          <a:solidFill>
            <a:srgbClr val="42B1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FE5698-82F7-443E-A38D-64150771B9C9}"/>
              </a:ext>
            </a:extLst>
          </p:cNvPr>
          <p:cNvSpPr>
            <a:spLocks noGrp="1"/>
          </p:cNvSpPr>
          <p:nvPr/>
        </p:nvSpPr>
        <p:spPr>
          <a:xfrm>
            <a:off x="8412480" y="5038344"/>
            <a:ext cx="6400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+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6609CE-E00D-46DC-8A69-439B717802AA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6675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00" b="1">
                <a:solidFill>
                  <a:srgbClr val="2677BE"/>
                </a:solidFill>
                <a:latin typeface="Aptos"/>
                <a:ea typeface="Aptos"/>
                <a:cs typeface="Aptos"/>
              </a:defRPr>
            </a:pPr>
            <a:r>
              <a:t>DATA ENGINEERING • GROCERY ANALYTICS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26F9B4-C14D-443E-9EE9-355D3D41DA5B}"/>
              </a:ext>
            </a:extLst>
          </p:cNvPr>
          <p:cNvSpPr>
            <a:spLocks noGrp="1"/>
          </p:cNvSpPr>
          <p:nvPr/>
        </p:nvSpPr>
        <p:spPr>
          <a:xfrm>
            <a:off x="685800" y="1234440"/>
            <a:ext cx="6858000" cy="6309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35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rPr dirty="0"/>
              <a:t>Grocery </a:t>
            </a:r>
            <a:r>
              <a:rPr lang="en-IN" dirty="0"/>
              <a:t>Sales</a:t>
            </a:r>
            <a:r>
              <a:rPr dirty="0"/>
              <a:t> Pipeline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766DDE-7E0C-4974-A15B-D4CE5FC19462}"/>
              </a:ext>
            </a:extLst>
          </p:cNvPr>
          <p:cNvSpPr>
            <a:spLocks noGrp="1"/>
          </p:cNvSpPr>
          <p:nvPr/>
        </p:nvSpPr>
        <p:spPr>
          <a:xfrm>
            <a:off x="713232" y="2788920"/>
            <a:ext cx="6217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70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rPr dirty="0"/>
              <a:t>From raw retail data to trusted sales, inventory and customer insights.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D5F1B0F-14D7-4673-AAD3-BE4C9279E55A}"/>
              </a:ext>
            </a:extLst>
          </p:cNvPr>
          <p:cNvSpPr>
            <a:spLocks noGrp="1"/>
          </p:cNvSpPr>
          <p:nvPr/>
        </p:nvSpPr>
        <p:spPr>
          <a:xfrm>
            <a:off x="713232" y="3977639"/>
            <a:ext cx="1572768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B1E6578-5AB7-4A66-8459-EB22047A0487}"/>
              </a:ext>
            </a:extLst>
          </p:cNvPr>
          <p:cNvSpPr>
            <a:spLocks noGrp="1"/>
          </p:cNvSpPr>
          <p:nvPr/>
        </p:nvSpPr>
        <p:spPr>
          <a:xfrm>
            <a:off x="713232" y="3977639"/>
            <a:ext cx="73152" cy="914400"/>
          </a:xfrm>
          <a:prstGeom prst="rect">
            <a:avLst/>
          </a:prstGeom>
          <a:solidFill>
            <a:srgbClr val="26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6959FDF-E540-4ADF-BEEB-50CF209C421D}"/>
              </a:ext>
            </a:extLst>
          </p:cNvPr>
          <p:cNvSpPr>
            <a:spLocks noGrp="1"/>
          </p:cNvSpPr>
          <p:nvPr/>
        </p:nvSpPr>
        <p:spPr>
          <a:xfrm>
            <a:off x="914400" y="4142231"/>
            <a:ext cx="1207007" cy="335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6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ADLS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DF468F-EDAC-425F-9474-F0CCF6B0D14E}"/>
              </a:ext>
            </a:extLst>
          </p:cNvPr>
          <p:cNvSpPr>
            <a:spLocks noGrp="1"/>
          </p:cNvSpPr>
          <p:nvPr/>
        </p:nvSpPr>
        <p:spPr>
          <a:xfrm>
            <a:off x="914400" y="4544568"/>
            <a:ext cx="1188720" cy="201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2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FFBB8D5A-9841-4F43-AC85-CC5E33E04D55}"/>
              </a:ext>
            </a:extLst>
          </p:cNvPr>
          <p:cNvSpPr>
            <a:spLocks noGrp="1"/>
          </p:cNvSpPr>
          <p:nvPr/>
        </p:nvSpPr>
        <p:spPr>
          <a:xfrm>
            <a:off x="2496312" y="3977639"/>
            <a:ext cx="1572768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569532F-D2DD-4F8C-B504-865BF1EDD896}"/>
              </a:ext>
            </a:extLst>
          </p:cNvPr>
          <p:cNvSpPr>
            <a:spLocks noGrp="1"/>
          </p:cNvSpPr>
          <p:nvPr/>
        </p:nvSpPr>
        <p:spPr>
          <a:xfrm>
            <a:off x="2496312" y="3977639"/>
            <a:ext cx="73152" cy="914400"/>
          </a:xfrm>
          <a:prstGeom prst="rect">
            <a:avLst/>
          </a:prstGeom>
          <a:solidFill>
            <a:srgbClr val="18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AF4E2E0-7BE7-4E17-981E-BAA007566225}"/>
              </a:ext>
            </a:extLst>
          </p:cNvPr>
          <p:cNvSpPr>
            <a:spLocks noGrp="1"/>
          </p:cNvSpPr>
          <p:nvPr/>
        </p:nvSpPr>
        <p:spPr>
          <a:xfrm>
            <a:off x="2697480" y="4142231"/>
            <a:ext cx="120700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6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Databricks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9BF975C-4F02-4519-9314-732F19CD3123}"/>
              </a:ext>
            </a:extLst>
          </p:cNvPr>
          <p:cNvSpPr>
            <a:spLocks noGrp="1"/>
          </p:cNvSpPr>
          <p:nvPr/>
        </p:nvSpPr>
        <p:spPr>
          <a:xfrm>
            <a:off x="2697480" y="4544568"/>
            <a:ext cx="1188720" cy="201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2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94044442-22ED-4FE8-8FEE-82D536D2276A}"/>
              </a:ext>
            </a:extLst>
          </p:cNvPr>
          <p:cNvSpPr>
            <a:spLocks noGrp="1"/>
          </p:cNvSpPr>
          <p:nvPr/>
        </p:nvSpPr>
        <p:spPr>
          <a:xfrm>
            <a:off x="4279392" y="3977639"/>
            <a:ext cx="1572768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8443973-0B46-489A-AC1D-B637D5971127}"/>
              </a:ext>
            </a:extLst>
          </p:cNvPr>
          <p:cNvSpPr>
            <a:spLocks noGrp="1"/>
          </p:cNvSpPr>
          <p:nvPr/>
        </p:nvSpPr>
        <p:spPr>
          <a:xfrm>
            <a:off x="4279392" y="3977639"/>
            <a:ext cx="73152" cy="914400"/>
          </a:xfrm>
          <a:prstGeom prst="rect">
            <a:avLst/>
          </a:prstGeom>
          <a:solidFill>
            <a:srgbClr val="71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8B6C423-43D4-4729-8667-AA86F8E47D76}"/>
              </a:ext>
            </a:extLst>
          </p:cNvPr>
          <p:cNvSpPr>
            <a:spLocks noGrp="1"/>
          </p:cNvSpPr>
          <p:nvPr/>
        </p:nvSpPr>
        <p:spPr>
          <a:xfrm>
            <a:off x="4480559" y="4142231"/>
            <a:ext cx="120700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6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Delta Lake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D3A788F-7D48-4F50-ACD1-898145144007}"/>
              </a:ext>
            </a:extLst>
          </p:cNvPr>
          <p:cNvSpPr>
            <a:spLocks noGrp="1"/>
          </p:cNvSpPr>
          <p:nvPr/>
        </p:nvSpPr>
        <p:spPr>
          <a:xfrm>
            <a:off x="4480559" y="4544568"/>
            <a:ext cx="1188720" cy="201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2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17DCCD71-B9AD-4EA3-9049-5457EAD997B5}"/>
              </a:ext>
            </a:extLst>
          </p:cNvPr>
          <p:cNvSpPr>
            <a:spLocks noGrp="1"/>
          </p:cNvSpPr>
          <p:nvPr/>
        </p:nvSpPr>
        <p:spPr>
          <a:xfrm>
            <a:off x="6062472" y="3977639"/>
            <a:ext cx="1572768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B9F76ED-B46A-4711-80CE-31A26A304394}"/>
              </a:ext>
            </a:extLst>
          </p:cNvPr>
          <p:cNvSpPr>
            <a:spLocks noGrp="1"/>
          </p:cNvSpPr>
          <p:nvPr/>
        </p:nvSpPr>
        <p:spPr>
          <a:xfrm>
            <a:off x="6062472" y="3977639"/>
            <a:ext cx="73152" cy="914400"/>
          </a:xfrm>
          <a:prstGeom prst="rect">
            <a:avLst/>
          </a:prstGeom>
          <a:solidFill>
            <a:srgbClr val="F29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6C677B1-01F5-4340-B32A-2F7F57442BDA}"/>
              </a:ext>
            </a:extLst>
          </p:cNvPr>
          <p:cNvSpPr>
            <a:spLocks noGrp="1"/>
          </p:cNvSpPr>
          <p:nvPr/>
        </p:nvSpPr>
        <p:spPr>
          <a:xfrm>
            <a:off x="6263640" y="4142231"/>
            <a:ext cx="120700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6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Airflow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44426C5-0CF3-48A9-AE74-4E6FDAF64208}"/>
              </a:ext>
            </a:extLst>
          </p:cNvPr>
          <p:cNvSpPr>
            <a:spLocks noGrp="1"/>
          </p:cNvSpPr>
          <p:nvPr/>
        </p:nvSpPr>
        <p:spPr>
          <a:xfrm>
            <a:off x="6263640" y="4544568"/>
            <a:ext cx="1188720" cy="201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2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E1BE4CA-DCE7-449C-A91A-455847C3E79C}"/>
              </a:ext>
            </a:extLst>
          </p:cNvPr>
          <p:cNvSpPr>
            <a:spLocks noGrp="1"/>
          </p:cNvSpPr>
          <p:nvPr/>
        </p:nvSpPr>
        <p:spPr>
          <a:xfrm>
            <a:off x="731520" y="5806440"/>
            <a:ext cx="6217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0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Daily batch • Data Quality • Medallion Architecture • Alerts</a:t>
            </a:r>
          </a:p>
        </p:txBody>
      </p:sp>
    </p:spTree>
    <p:extLst>
      <p:ext uri="{BB962C8B-B14F-4D97-AF65-F5344CB8AC3E}">
        <p14:creationId xmlns:p14="http://schemas.microsoft.com/office/powerpoint/2010/main" val="2048579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8D18F58-7A54-432F-85FD-B5975F01245E}"/>
              </a:ext>
            </a:extLst>
          </p:cNvPr>
          <p:cNvSpPr>
            <a:spLocks noGrp="1"/>
          </p:cNvSpPr>
          <p:nvPr/>
        </p:nvSpPr>
        <p:spPr>
          <a:xfrm>
            <a:off x="0" y="19664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4520E2-FD49-4CE5-83E7-A7F3FDA4C701}"/>
              </a:ext>
            </a:extLst>
          </p:cNvPr>
          <p:cNvSpPr>
            <a:spLocks noGrp="1"/>
          </p:cNvSpPr>
          <p:nvPr/>
        </p:nvSpPr>
        <p:spPr>
          <a:xfrm>
            <a:off x="594360" y="256032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000" b="1">
                <a:solidFill>
                  <a:srgbClr val="2677BE"/>
                </a:solidFill>
                <a:latin typeface="Aptos"/>
                <a:ea typeface="Aptos"/>
                <a:cs typeface="Aptos"/>
              </a:defRPr>
            </a:pPr>
            <a:r>
              <a:t>01 • PROJECT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2196C2-3FCE-4927-82F5-1EA65F939B57}"/>
              </a:ext>
            </a:extLst>
          </p:cNvPr>
          <p:cNvSpPr>
            <a:spLocks noGrp="1"/>
          </p:cNvSpPr>
          <p:nvPr/>
        </p:nvSpPr>
        <p:spPr>
          <a:xfrm>
            <a:off x="594360" y="5029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8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Project Overview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94AD1F-9634-4514-B632-D03DECD71887}"/>
              </a:ext>
            </a:extLst>
          </p:cNvPr>
          <p:cNvSpPr>
            <a:spLocks noGrp="1"/>
          </p:cNvSpPr>
          <p:nvPr/>
        </p:nvSpPr>
        <p:spPr>
          <a:xfrm>
            <a:off x="594360" y="1078992"/>
            <a:ext cx="914400" cy="54864"/>
          </a:xfrm>
          <a:prstGeom prst="rect">
            <a:avLst/>
          </a:prstGeom>
          <a:solidFill>
            <a:srgbClr val="28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B0009A-5696-49EE-8545-961F196219F7}"/>
              </a:ext>
            </a:extLst>
          </p:cNvPr>
          <p:cNvSpPr>
            <a:spLocks noGrp="1"/>
          </p:cNvSpPr>
          <p:nvPr/>
        </p:nvSpPr>
        <p:spPr>
          <a:xfrm>
            <a:off x="11064240" y="41148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uNone/>
              <a:defRPr sz="120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02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2572B4A-BE41-4F3D-AC57-4DC08D7CA7C9}"/>
              </a:ext>
            </a:extLst>
          </p:cNvPr>
          <p:cNvSpPr>
            <a:spLocks noGrp="1"/>
          </p:cNvSpPr>
          <p:nvPr/>
        </p:nvSpPr>
        <p:spPr>
          <a:xfrm>
            <a:off x="640080" y="1417320"/>
            <a:ext cx="34290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C6BF39-29A2-44C3-A7AE-BEBC1F78F1F1}"/>
              </a:ext>
            </a:extLst>
          </p:cNvPr>
          <p:cNvSpPr>
            <a:spLocks noGrp="1"/>
          </p:cNvSpPr>
          <p:nvPr/>
        </p:nvSpPr>
        <p:spPr>
          <a:xfrm>
            <a:off x="640080" y="1417320"/>
            <a:ext cx="73152" cy="1920240"/>
          </a:xfrm>
          <a:prstGeom prst="rect">
            <a:avLst/>
          </a:prstGeom>
          <a:solidFill>
            <a:srgbClr val="26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C425DC-EB06-4AD2-A04D-CB685E0EEF26}"/>
              </a:ext>
            </a:extLst>
          </p:cNvPr>
          <p:cNvSpPr>
            <a:spLocks noGrp="1"/>
          </p:cNvSpPr>
          <p:nvPr/>
        </p:nvSpPr>
        <p:spPr>
          <a:xfrm>
            <a:off x="841247" y="158191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6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SOURCE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FE0CE8-083B-493B-88C4-218535035C45}"/>
              </a:ext>
            </a:extLst>
          </p:cNvPr>
          <p:cNvSpPr>
            <a:spLocks noGrp="1"/>
          </p:cNvSpPr>
          <p:nvPr/>
        </p:nvSpPr>
        <p:spPr>
          <a:xfrm>
            <a:off x="841247" y="1984248"/>
            <a:ext cx="3044952" cy="10541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2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rPr dirty="0"/>
              <a:t>Kaggl</a:t>
            </a:r>
            <a:r>
              <a:rPr lang="en-IN" dirty="0"/>
              <a:t>e Grocery Sales </a:t>
            </a:r>
            <a:r>
              <a:rPr lang="en-IN" dirty="0" err="1"/>
              <a:t>datsets</a:t>
            </a:r>
            <a:r>
              <a:rPr dirty="0"/>
              <a:t>
Raw path pattern: abfss://bucket/raw/grocery_records/YYYY/MM/DD/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5AB4172-290A-40E4-9911-19BBE0ADFEEF}"/>
              </a:ext>
            </a:extLst>
          </p:cNvPr>
          <p:cNvSpPr>
            <a:spLocks noGrp="1"/>
          </p:cNvSpPr>
          <p:nvPr/>
        </p:nvSpPr>
        <p:spPr>
          <a:xfrm>
            <a:off x="4370832" y="1417320"/>
            <a:ext cx="34290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36E3666-630E-4461-8424-8BA1BC3499F0}"/>
              </a:ext>
            </a:extLst>
          </p:cNvPr>
          <p:cNvSpPr>
            <a:spLocks noGrp="1"/>
          </p:cNvSpPr>
          <p:nvPr/>
        </p:nvSpPr>
        <p:spPr>
          <a:xfrm>
            <a:off x="4370832" y="1417320"/>
            <a:ext cx="73152" cy="1920240"/>
          </a:xfrm>
          <a:prstGeom prst="rect">
            <a:avLst/>
          </a:prstGeom>
          <a:solidFill>
            <a:srgbClr val="18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7917CC-C71F-4A5C-9C38-B9287062789A}"/>
              </a:ext>
            </a:extLst>
          </p:cNvPr>
          <p:cNvSpPr>
            <a:spLocks noGrp="1"/>
          </p:cNvSpPr>
          <p:nvPr/>
        </p:nvSpPr>
        <p:spPr>
          <a:xfrm>
            <a:off x="4572000" y="158191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6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PROCESSING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D47653-2B32-4B29-AD2B-AD6AD04AA354}"/>
              </a:ext>
            </a:extLst>
          </p:cNvPr>
          <p:cNvSpPr>
            <a:spLocks noGrp="1"/>
          </p:cNvSpPr>
          <p:nvPr/>
        </p:nvSpPr>
        <p:spPr>
          <a:xfrm>
            <a:off x="4572000" y="1984248"/>
            <a:ext cx="3044952" cy="1207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2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Databricks + PySpark process grocery data through Bronze, Silver and Gold Delta layers.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05338B9-2CCE-412F-872E-C2D4082E2108}"/>
              </a:ext>
            </a:extLst>
          </p:cNvPr>
          <p:cNvSpPr>
            <a:spLocks noGrp="1"/>
          </p:cNvSpPr>
          <p:nvPr/>
        </p:nvSpPr>
        <p:spPr>
          <a:xfrm>
            <a:off x="8101583" y="1417320"/>
            <a:ext cx="342900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EC5C8DB-750F-419F-A0CE-179DE8CEEB2E}"/>
              </a:ext>
            </a:extLst>
          </p:cNvPr>
          <p:cNvSpPr>
            <a:spLocks noGrp="1"/>
          </p:cNvSpPr>
          <p:nvPr/>
        </p:nvSpPr>
        <p:spPr>
          <a:xfrm>
            <a:off x="8101583" y="1417320"/>
            <a:ext cx="73152" cy="1920240"/>
          </a:xfrm>
          <a:prstGeom prst="rect">
            <a:avLst/>
          </a:prstGeom>
          <a:solidFill>
            <a:srgbClr val="71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58130A-0ED1-41B4-A232-6E3A46AF2F08}"/>
              </a:ext>
            </a:extLst>
          </p:cNvPr>
          <p:cNvSpPr>
            <a:spLocks noGrp="1"/>
          </p:cNvSpPr>
          <p:nvPr/>
        </p:nvSpPr>
        <p:spPr>
          <a:xfrm>
            <a:off x="8302752" y="158191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6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CONSUMPTION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4E4FD8-0F08-4C34-9282-60A6D44C3CE7}"/>
              </a:ext>
            </a:extLst>
          </p:cNvPr>
          <p:cNvSpPr>
            <a:spLocks noGrp="1"/>
          </p:cNvSpPr>
          <p:nvPr/>
        </p:nvSpPr>
        <p:spPr>
          <a:xfrm>
            <a:off x="8302752" y="1984248"/>
            <a:ext cx="3044952" cy="1207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2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Gold datasets power category, sales and inventory analytics with dashboards and alerts.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4BFEFE-7BAE-44F1-BFAD-A32AEEB38A69}"/>
              </a:ext>
            </a:extLst>
          </p:cNvPr>
          <p:cNvSpPr>
            <a:spLocks noGrp="1"/>
          </p:cNvSpPr>
          <p:nvPr/>
        </p:nvSpPr>
        <p:spPr>
          <a:xfrm>
            <a:off x="685800" y="38862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The pipeline is designed for reliable daily processing with validation, error handling and orchestration.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945E318-5731-49E4-B3A1-056A162C7C10}"/>
              </a:ext>
            </a:extLst>
          </p:cNvPr>
          <p:cNvSpPr>
            <a:spLocks noGrp="1"/>
          </p:cNvSpPr>
          <p:nvPr/>
        </p:nvSpPr>
        <p:spPr>
          <a:xfrm>
            <a:off x="777240" y="4572000"/>
            <a:ext cx="566928" cy="566928"/>
          </a:xfrm>
          <a:prstGeom prst="ellipse">
            <a:avLst/>
          </a:prstGeom>
          <a:solidFill>
            <a:srgbClr val="26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2D1FFC-9506-477B-8CE6-6FC31E09ABD0}"/>
              </a:ext>
            </a:extLst>
          </p:cNvPr>
          <p:cNvSpPr>
            <a:spLocks noGrp="1"/>
          </p:cNvSpPr>
          <p:nvPr/>
        </p:nvSpPr>
        <p:spPr>
          <a:xfrm>
            <a:off x="777240" y="4581144"/>
            <a:ext cx="5669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01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3F82BED-DA39-4C56-9C8D-E38D9D82EC15}"/>
              </a:ext>
            </a:extLst>
          </p:cNvPr>
          <p:cNvSpPr>
            <a:spLocks noGrp="1"/>
          </p:cNvSpPr>
          <p:nvPr/>
        </p:nvSpPr>
        <p:spPr>
          <a:xfrm>
            <a:off x="1490472" y="4553712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2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INGEST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88FE2D-54BB-423D-8CF7-6842CEE06269}"/>
              </a:ext>
            </a:extLst>
          </p:cNvPr>
          <p:cNvSpPr>
            <a:spLocks noGrp="1"/>
          </p:cNvSpPr>
          <p:nvPr/>
        </p:nvSpPr>
        <p:spPr>
          <a:xfrm>
            <a:off x="1490472" y="4873752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00" b="0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Capture retail data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4F998C4-2125-4CA9-9E8D-F2BFC3489FB8}"/>
              </a:ext>
            </a:extLst>
          </p:cNvPr>
          <p:cNvSpPr>
            <a:spLocks noGrp="1"/>
          </p:cNvSpPr>
          <p:nvPr/>
        </p:nvSpPr>
        <p:spPr>
          <a:xfrm>
            <a:off x="3566160" y="4572000"/>
            <a:ext cx="566928" cy="566928"/>
          </a:xfrm>
          <a:prstGeom prst="ellipse">
            <a:avLst/>
          </a:prstGeom>
          <a:solidFill>
            <a:srgbClr val="18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E1B9F57-CB30-4F7B-AC34-903BFF0A165D}"/>
              </a:ext>
            </a:extLst>
          </p:cNvPr>
          <p:cNvSpPr>
            <a:spLocks noGrp="1"/>
          </p:cNvSpPr>
          <p:nvPr/>
        </p:nvSpPr>
        <p:spPr>
          <a:xfrm>
            <a:off x="3566160" y="4581144"/>
            <a:ext cx="5669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02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FA603B1-5FC4-469C-9F67-9278578CD958}"/>
              </a:ext>
            </a:extLst>
          </p:cNvPr>
          <p:cNvSpPr>
            <a:spLocks noGrp="1"/>
          </p:cNvSpPr>
          <p:nvPr/>
        </p:nvSpPr>
        <p:spPr>
          <a:xfrm>
            <a:off x="4279392" y="4553712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2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CLEAN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51BEF71-BC84-407A-849D-F16766EE5744}"/>
              </a:ext>
            </a:extLst>
          </p:cNvPr>
          <p:cNvSpPr>
            <a:spLocks noGrp="1"/>
          </p:cNvSpPr>
          <p:nvPr/>
        </p:nvSpPr>
        <p:spPr>
          <a:xfrm>
            <a:off x="4279392" y="4873752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00" b="0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Standardize &amp; validate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A25E822-A272-4E60-83A9-6CED5721ABDA}"/>
              </a:ext>
            </a:extLst>
          </p:cNvPr>
          <p:cNvSpPr>
            <a:spLocks noGrp="1"/>
          </p:cNvSpPr>
          <p:nvPr/>
        </p:nvSpPr>
        <p:spPr>
          <a:xfrm>
            <a:off x="6355079" y="4572000"/>
            <a:ext cx="566928" cy="566928"/>
          </a:xfrm>
          <a:prstGeom prst="ellipse">
            <a:avLst/>
          </a:prstGeom>
          <a:solidFill>
            <a:srgbClr val="71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775120D-1989-4C97-A76B-38F8CDCAF333}"/>
              </a:ext>
            </a:extLst>
          </p:cNvPr>
          <p:cNvSpPr>
            <a:spLocks noGrp="1"/>
          </p:cNvSpPr>
          <p:nvPr/>
        </p:nvSpPr>
        <p:spPr>
          <a:xfrm>
            <a:off x="6355079" y="4581144"/>
            <a:ext cx="5669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03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2746BBE-576F-4960-87D8-E80AD4288820}"/>
              </a:ext>
            </a:extLst>
          </p:cNvPr>
          <p:cNvSpPr>
            <a:spLocks noGrp="1"/>
          </p:cNvSpPr>
          <p:nvPr/>
        </p:nvSpPr>
        <p:spPr>
          <a:xfrm>
            <a:off x="7068312" y="4553712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2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ANALYZE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5169169-5086-4559-A955-D6143DE96256}"/>
              </a:ext>
            </a:extLst>
          </p:cNvPr>
          <p:cNvSpPr>
            <a:spLocks noGrp="1"/>
          </p:cNvSpPr>
          <p:nvPr/>
        </p:nvSpPr>
        <p:spPr>
          <a:xfrm>
            <a:off x="7068312" y="4873752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00" b="0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Calculate sales metrics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ACA64ED-0D0F-4133-834D-B277E7571F29}"/>
              </a:ext>
            </a:extLst>
          </p:cNvPr>
          <p:cNvSpPr>
            <a:spLocks noGrp="1"/>
          </p:cNvSpPr>
          <p:nvPr/>
        </p:nvSpPr>
        <p:spPr>
          <a:xfrm>
            <a:off x="9143999" y="4572000"/>
            <a:ext cx="566928" cy="566928"/>
          </a:xfrm>
          <a:prstGeom prst="ellipse">
            <a:avLst/>
          </a:prstGeom>
          <a:solidFill>
            <a:srgbClr val="F29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7148202-270A-4269-A3DF-69685BB1232C}"/>
              </a:ext>
            </a:extLst>
          </p:cNvPr>
          <p:cNvSpPr>
            <a:spLocks noGrp="1"/>
          </p:cNvSpPr>
          <p:nvPr/>
        </p:nvSpPr>
        <p:spPr>
          <a:xfrm>
            <a:off x="9143999" y="4581144"/>
            <a:ext cx="5669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04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91B677D-A030-4ED8-8381-B6BAC41FF1C9}"/>
              </a:ext>
            </a:extLst>
          </p:cNvPr>
          <p:cNvSpPr>
            <a:spLocks noGrp="1"/>
          </p:cNvSpPr>
          <p:nvPr/>
        </p:nvSpPr>
        <p:spPr>
          <a:xfrm>
            <a:off x="9857231" y="4553712"/>
            <a:ext cx="1783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2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MONITOR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F9A2572-523B-4FD8-A6C7-49D6281C0288}"/>
              </a:ext>
            </a:extLst>
          </p:cNvPr>
          <p:cNvSpPr>
            <a:spLocks noGrp="1"/>
          </p:cNvSpPr>
          <p:nvPr/>
        </p:nvSpPr>
        <p:spPr>
          <a:xfrm>
            <a:off x="9857231" y="4873752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00" b="0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Alert &amp; troubleshoot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3500A12-5694-4E33-8B14-7487E3276A44}"/>
              </a:ext>
            </a:extLst>
          </p:cNvPr>
          <p:cNvSpPr>
            <a:spLocks noGrp="1"/>
          </p:cNvSpPr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E7C1E7C-9B46-4FC5-B3E3-ABF221988CD1}"/>
              </a:ext>
            </a:extLst>
          </p:cNvPr>
          <p:cNvSpPr>
            <a:spLocks noGrp="1"/>
          </p:cNvSpPr>
          <p:nvPr/>
        </p:nvSpPr>
        <p:spPr>
          <a:xfrm>
            <a:off x="594360" y="6574536"/>
            <a:ext cx="5029200" cy="198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70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GROCERY RETAIL ANALYTICS  •  DATA ENGINEERING PROJECT</a:t>
            </a:r>
          </a:p>
        </p:txBody>
      </p:sp>
    </p:spTree>
    <p:extLst>
      <p:ext uri="{BB962C8B-B14F-4D97-AF65-F5344CB8AC3E}">
        <p14:creationId xmlns:p14="http://schemas.microsoft.com/office/powerpoint/2010/main" val="2587510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A388D3A-8F09-41E4-A071-53EAA6CF246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7711B2-F09A-4B88-957E-35B34D0A5B8A}"/>
              </a:ext>
            </a:extLst>
          </p:cNvPr>
          <p:cNvSpPr>
            <a:spLocks noGrp="1"/>
          </p:cNvSpPr>
          <p:nvPr/>
        </p:nvSpPr>
        <p:spPr>
          <a:xfrm>
            <a:off x="594360" y="256032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000" b="1">
                <a:solidFill>
                  <a:srgbClr val="2677BE"/>
                </a:solidFill>
                <a:latin typeface="Aptos"/>
                <a:ea typeface="Aptos"/>
                <a:cs typeface="Aptos"/>
              </a:defRPr>
            </a:pPr>
            <a:r>
              <a:t>02 • OBJECTIVES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6A0E1F-3E8D-4911-AC4C-2CB225DD8AB8}"/>
              </a:ext>
            </a:extLst>
          </p:cNvPr>
          <p:cNvSpPr>
            <a:spLocks noGrp="1"/>
          </p:cNvSpPr>
          <p:nvPr/>
        </p:nvSpPr>
        <p:spPr>
          <a:xfrm>
            <a:off x="594360" y="5029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8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What the solution achieves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5109FC-55B5-4B97-88CC-A61D88E827AA}"/>
              </a:ext>
            </a:extLst>
          </p:cNvPr>
          <p:cNvSpPr>
            <a:spLocks noGrp="1"/>
          </p:cNvSpPr>
          <p:nvPr/>
        </p:nvSpPr>
        <p:spPr>
          <a:xfrm>
            <a:off x="594360" y="1078992"/>
            <a:ext cx="914400" cy="54864"/>
          </a:xfrm>
          <a:prstGeom prst="rect">
            <a:avLst/>
          </a:prstGeom>
          <a:solidFill>
            <a:srgbClr val="28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B5E702-C72B-409F-8466-5594A3CE096C}"/>
              </a:ext>
            </a:extLst>
          </p:cNvPr>
          <p:cNvSpPr>
            <a:spLocks noGrp="1"/>
          </p:cNvSpPr>
          <p:nvPr/>
        </p:nvSpPr>
        <p:spPr>
          <a:xfrm>
            <a:off x="11064240" y="41148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uNone/>
              <a:defRPr sz="120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03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DF40DC3-0EEE-4EB5-B24D-7B78C1F7C723}"/>
              </a:ext>
            </a:extLst>
          </p:cNvPr>
          <p:cNvSpPr>
            <a:spLocks noGrp="1"/>
          </p:cNvSpPr>
          <p:nvPr/>
        </p:nvSpPr>
        <p:spPr>
          <a:xfrm>
            <a:off x="640080" y="1417320"/>
            <a:ext cx="34290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7829F6E-8A8F-44FB-8753-56A87F414CCD}"/>
              </a:ext>
            </a:extLst>
          </p:cNvPr>
          <p:cNvSpPr>
            <a:spLocks noGrp="1"/>
          </p:cNvSpPr>
          <p:nvPr/>
        </p:nvSpPr>
        <p:spPr>
          <a:xfrm>
            <a:off x="841247" y="1618488"/>
            <a:ext cx="530352" cy="530352"/>
          </a:xfrm>
          <a:prstGeom prst="ellipse">
            <a:avLst/>
          </a:prstGeom>
          <a:solidFill>
            <a:srgbClr val="26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FE0C7F-BE72-4911-B71A-0930F09D894A}"/>
              </a:ext>
            </a:extLst>
          </p:cNvPr>
          <p:cNvSpPr>
            <a:spLocks noGrp="1"/>
          </p:cNvSpPr>
          <p:nvPr/>
        </p:nvSpPr>
        <p:spPr>
          <a:xfrm>
            <a:off x="841247" y="1627632"/>
            <a:ext cx="530352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01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9A49F3-47C0-412F-8F61-D5E358FF550B}"/>
              </a:ext>
            </a:extLst>
          </p:cNvPr>
          <p:cNvSpPr>
            <a:spLocks noGrp="1"/>
          </p:cNvSpPr>
          <p:nvPr/>
        </p:nvSpPr>
        <p:spPr>
          <a:xfrm>
            <a:off x="1508760" y="1645920"/>
            <a:ext cx="2240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5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Reliable ingestion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BC30E9-CC21-4606-8E6F-92FA86CA4F2A}"/>
              </a:ext>
            </a:extLst>
          </p:cNvPr>
          <p:cNvSpPr>
            <a:spLocks noGrp="1"/>
          </p:cNvSpPr>
          <p:nvPr/>
        </p:nvSpPr>
        <p:spPr>
          <a:xfrm>
            <a:off x="1508760" y="2103120"/>
            <a:ext cx="226771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Bring retail transactions and reference files into ADLS with controlled ingestion.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1627583-32F8-4197-A8F7-619A142F9865}"/>
              </a:ext>
            </a:extLst>
          </p:cNvPr>
          <p:cNvSpPr>
            <a:spLocks noGrp="1"/>
          </p:cNvSpPr>
          <p:nvPr/>
        </p:nvSpPr>
        <p:spPr>
          <a:xfrm>
            <a:off x="4434840" y="1417320"/>
            <a:ext cx="34290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212729D-25F3-466B-854A-6C28A705F8B1}"/>
              </a:ext>
            </a:extLst>
          </p:cNvPr>
          <p:cNvSpPr>
            <a:spLocks noGrp="1"/>
          </p:cNvSpPr>
          <p:nvPr/>
        </p:nvSpPr>
        <p:spPr>
          <a:xfrm>
            <a:off x="4636008" y="1618488"/>
            <a:ext cx="530352" cy="530352"/>
          </a:xfrm>
          <a:prstGeom prst="ellipse">
            <a:avLst/>
          </a:prstGeom>
          <a:solidFill>
            <a:srgbClr val="18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E96A52-843C-4D1D-AD80-14F2D6C2CADE}"/>
              </a:ext>
            </a:extLst>
          </p:cNvPr>
          <p:cNvSpPr>
            <a:spLocks noGrp="1"/>
          </p:cNvSpPr>
          <p:nvPr/>
        </p:nvSpPr>
        <p:spPr>
          <a:xfrm>
            <a:off x="4636008" y="1627632"/>
            <a:ext cx="530352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02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1B04D4-CC70-4066-BC32-10CA328E09D4}"/>
              </a:ext>
            </a:extLst>
          </p:cNvPr>
          <p:cNvSpPr>
            <a:spLocks noGrp="1"/>
          </p:cNvSpPr>
          <p:nvPr/>
        </p:nvSpPr>
        <p:spPr>
          <a:xfrm>
            <a:off x="5303520" y="1645920"/>
            <a:ext cx="2240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5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Medallion design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89D50DF-6802-4BE9-AA21-C8BCF79481E0}"/>
              </a:ext>
            </a:extLst>
          </p:cNvPr>
          <p:cNvSpPr>
            <a:spLocks noGrp="1"/>
          </p:cNvSpPr>
          <p:nvPr/>
        </p:nvSpPr>
        <p:spPr>
          <a:xfrm>
            <a:off x="5303520" y="2103120"/>
            <a:ext cx="226771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Implement Bronze → Silver → Gold for progressively trusted data.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710C51C1-1EBC-4D0E-99DB-16F30D425585}"/>
              </a:ext>
            </a:extLst>
          </p:cNvPr>
          <p:cNvSpPr>
            <a:spLocks noGrp="1"/>
          </p:cNvSpPr>
          <p:nvPr/>
        </p:nvSpPr>
        <p:spPr>
          <a:xfrm>
            <a:off x="8229600" y="1417320"/>
            <a:ext cx="34290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35CE153-31C1-4AC9-9C11-158D2AE7024C}"/>
              </a:ext>
            </a:extLst>
          </p:cNvPr>
          <p:cNvSpPr>
            <a:spLocks noGrp="1"/>
          </p:cNvSpPr>
          <p:nvPr/>
        </p:nvSpPr>
        <p:spPr>
          <a:xfrm>
            <a:off x="8430768" y="1618488"/>
            <a:ext cx="530352" cy="530352"/>
          </a:xfrm>
          <a:prstGeom prst="ellipse">
            <a:avLst/>
          </a:prstGeom>
          <a:solidFill>
            <a:srgbClr val="42B1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E54A88-4D9D-48F3-9119-6CFFC0333408}"/>
              </a:ext>
            </a:extLst>
          </p:cNvPr>
          <p:cNvSpPr>
            <a:spLocks noGrp="1"/>
          </p:cNvSpPr>
          <p:nvPr/>
        </p:nvSpPr>
        <p:spPr>
          <a:xfrm>
            <a:off x="8430768" y="1627632"/>
            <a:ext cx="530352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03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D9C29D3-C0DE-4050-9B6C-FF0AC9030FD1}"/>
              </a:ext>
            </a:extLst>
          </p:cNvPr>
          <p:cNvSpPr>
            <a:spLocks noGrp="1"/>
          </p:cNvSpPr>
          <p:nvPr/>
        </p:nvSpPr>
        <p:spPr>
          <a:xfrm>
            <a:off x="9098280" y="1645920"/>
            <a:ext cx="2240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5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Data quality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BC5957E-51FC-4D12-8E17-B29C4F365585}"/>
              </a:ext>
            </a:extLst>
          </p:cNvPr>
          <p:cNvSpPr>
            <a:spLocks noGrp="1"/>
          </p:cNvSpPr>
          <p:nvPr/>
        </p:nvSpPr>
        <p:spPr>
          <a:xfrm>
            <a:off x="9098280" y="2103120"/>
            <a:ext cx="226771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Handle missing values, duplicates, invalid records and schema issues.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32563FDF-42A3-4772-BC34-2E2699D5E926}"/>
              </a:ext>
            </a:extLst>
          </p:cNvPr>
          <p:cNvSpPr>
            <a:spLocks noGrp="1"/>
          </p:cNvSpPr>
          <p:nvPr/>
        </p:nvSpPr>
        <p:spPr>
          <a:xfrm>
            <a:off x="640080" y="3566160"/>
            <a:ext cx="34290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C55A268-EB77-4E90-BAC6-AA9AD6258D1F}"/>
              </a:ext>
            </a:extLst>
          </p:cNvPr>
          <p:cNvSpPr>
            <a:spLocks noGrp="1"/>
          </p:cNvSpPr>
          <p:nvPr/>
        </p:nvSpPr>
        <p:spPr>
          <a:xfrm>
            <a:off x="841247" y="3767328"/>
            <a:ext cx="530352" cy="530352"/>
          </a:xfrm>
          <a:prstGeom prst="ellipse">
            <a:avLst/>
          </a:prstGeom>
          <a:solidFill>
            <a:srgbClr val="71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7673380-BF94-46CB-BB5C-E4BF46840CEA}"/>
              </a:ext>
            </a:extLst>
          </p:cNvPr>
          <p:cNvSpPr>
            <a:spLocks noGrp="1"/>
          </p:cNvSpPr>
          <p:nvPr/>
        </p:nvSpPr>
        <p:spPr>
          <a:xfrm>
            <a:off x="841247" y="3776472"/>
            <a:ext cx="530352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04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D5C96ED-6824-4B4B-B43A-AA1A4FEAF850}"/>
              </a:ext>
            </a:extLst>
          </p:cNvPr>
          <p:cNvSpPr>
            <a:spLocks noGrp="1"/>
          </p:cNvSpPr>
          <p:nvPr/>
        </p:nvSpPr>
        <p:spPr>
          <a:xfrm>
            <a:off x="1508760" y="3794760"/>
            <a:ext cx="2240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5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Sales Performance analytics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A87D5B8-FE39-4898-990D-76DB19D6BEC3}"/>
              </a:ext>
            </a:extLst>
          </p:cNvPr>
          <p:cNvSpPr>
            <a:spLocks noGrp="1"/>
          </p:cNvSpPr>
          <p:nvPr/>
        </p:nvSpPr>
        <p:spPr>
          <a:xfrm>
            <a:off x="1508760" y="4251960"/>
            <a:ext cx="226771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Create sales, inventory and customer performance metrics.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D40B4C6A-8264-4FEF-82AD-F2F4B5EF8512}"/>
              </a:ext>
            </a:extLst>
          </p:cNvPr>
          <p:cNvSpPr>
            <a:spLocks noGrp="1"/>
          </p:cNvSpPr>
          <p:nvPr/>
        </p:nvSpPr>
        <p:spPr>
          <a:xfrm>
            <a:off x="4434840" y="3566160"/>
            <a:ext cx="34290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EF29288-6876-432B-8FEB-3810CA6AF6F9}"/>
              </a:ext>
            </a:extLst>
          </p:cNvPr>
          <p:cNvSpPr>
            <a:spLocks noGrp="1"/>
          </p:cNvSpPr>
          <p:nvPr/>
        </p:nvSpPr>
        <p:spPr>
          <a:xfrm>
            <a:off x="4636008" y="3767328"/>
            <a:ext cx="530352" cy="530352"/>
          </a:xfrm>
          <a:prstGeom prst="ellipse">
            <a:avLst/>
          </a:prstGeom>
          <a:solidFill>
            <a:srgbClr val="F29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B638C3F-AD9D-4F54-97BC-6C0C815FCBDB}"/>
              </a:ext>
            </a:extLst>
          </p:cNvPr>
          <p:cNvSpPr>
            <a:spLocks noGrp="1"/>
          </p:cNvSpPr>
          <p:nvPr/>
        </p:nvSpPr>
        <p:spPr>
          <a:xfrm>
            <a:off x="4636008" y="3776472"/>
            <a:ext cx="530352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05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86D066D-B860-426A-86A9-0BDB30C1082C}"/>
              </a:ext>
            </a:extLst>
          </p:cNvPr>
          <p:cNvSpPr>
            <a:spLocks noGrp="1"/>
          </p:cNvSpPr>
          <p:nvPr/>
        </p:nvSpPr>
        <p:spPr>
          <a:xfrm>
            <a:off x="5303520" y="3794760"/>
            <a:ext cx="2240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5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Monitoring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286A6D6-0DE5-48F2-9CED-25A39BFF19AB}"/>
              </a:ext>
            </a:extLst>
          </p:cNvPr>
          <p:cNvSpPr>
            <a:spLocks noGrp="1"/>
          </p:cNvSpPr>
          <p:nvPr/>
        </p:nvSpPr>
        <p:spPr>
          <a:xfrm>
            <a:off x="5303520" y="4251960"/>
            <a:ext cx="226771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Use Slack alerts and logs for failures and anomalies.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524439D0-4336-4CDA-A302-0489E5A8128F}"/>
              </a:ext>
            </a:extLst>
          </p:cNvPr>
          <p:cNvSpPr>
            <a:spLocks noGrp="1"/>
          </p:cNvSpPr>
          <p:nvPr/>
        </p:nvSpPr>
        <p:spPr>
          <a:xfrm>
            <a:off x="8229600" y="3566160"/>
            <a:ext cx="34290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3E7359D-8AD6-4438-8A1D-35DA548833AE}"/>
              </a:ext>
            </a:extLst>
          </p:cNvPr>
          <p:cNvSpPr>
            <a:spLocks noGrp="1"/>
          </p:cNvSpPr>
          <p:nvPr/>
        </p:nvSpPr>
        <p:spPr>
          <a:xfrm>
            <a:off x="8430768" y="3767328"/>
            <a:ext cx="530352" cy="530352"/>
          </a:xfrm>
          <a:prstGeom prst="ellipse">
            <a:avLst/>
          </a:prstGeom>
          <a:solidFill>
            <a:srgbClr val="E0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B7A2937-D209-4F4D-89F3-67A5BADF1DEF}"/>
              </a:ext>
            </a:extLst>
          </p:cNvPr>
          <p:cNvSpPr>
            <a:spLocks noGrp="1"/>
          </p:cNvSpPr>
          <p:nvPr/>
        </p:nvSpPr>
        <p:spPr>
          <a:xfrm>
            <a:off x="8430768" y="3776472"/>
            <a:ext cx="530352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06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CFD108F-1F0F-48F3-8A2B-AF8DE9A69993}"/>
              </a:ext>
            </a:extLst>
          </p:cNvPr>
          <p:cNvSpPr>
            <a:spLocks noGrp="1"/>
          </p:cNvSpPr>
          <p:nvPr/>
        </p:nvSpPr>
        <p:spPr>
          <a:xfrm>
            <a:off x="9098280" y="3794760"/>
            <a:ext cx="2240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5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Automation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2EA9F6D-4F13-4893-8AD2-B99F6CDB3BE8}"/>
              </a:ext>
            </a:extLst>
          </p:cNvPr>
          <p:cNvSpPr>
            <a:spLocks noGrp="1"/>
          </p:cNvSpPr>
          <p:nvPr/>
        </p:nvSpPr>
        <p:spPr>
          <a:xfrm>
            <a:off x="9098280" y="4251960"/>
            <a:ext cx="226771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Orchestrate and validate the pipeline with Airflow and PyTest.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FACB05C-7B4F-4CBE-B787-7C22EAE67D70}"/>
              </a:ext>
            </a:extLst>
          </p:cNvPr>
          <p:cNvSpPr>
            <a:spLocks noGrp="1"/>
          </p:cNvSpPr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2EC722D-152A-49A7-A65F-64E9DBC86621}"/>
              </a:ext>
            </a:extLst>
          </p:cNvPr>
          <p:cNvSpPr>
            <a:spLocks noGrp="1"/>
          </p:cNvSpPr>
          <p:nvPr/>
        </p:nvSpPr>
        <p:spPr>
          <a:xfrm>
            <a:off x="594360" y="6574536"/>
            <a:ext cx="5029200" cy="198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70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GROCERY RETAIL ANALYTICS  •  DATA ENGINEERING PROJECT</a:t>
            </a:r>
          </a:p>
        </p:txBody>
      </p:sp>
    </p:spTree>
    <p:extLst>
      <p:ext uri="{BB962C8B-B14F-4D97-AF65-F5344CB8AC3E}">
        <p14:creationId xmlns:p14="http://schemas.microsoft.com/office/powerpoint/2010/main" val="775088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E2365B-C697-4973-8D34-5A6D825F89C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877786-D6A0-42BE-860D-BC0163962922}"/>
              </a:ext>
            </a:extLst>
          </p:cNvPr>
          <p:cNvSpPr>
            <a:spLocks noGrp="1"/>
          </p:cNvSpPr>
          <p:nvPr/>
        </p:nvSpPr>
        <p:spPr>
          <a:xfrm>
            <a:off x="594360" y="256032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000" b="1">
                <a:solidFill>
                  <a:srgbClr val="2677BE"/>
                </a:solidFill>
                <a:latin typeface="Aptos"/>
                <a:ea typeface="Aptos"/>
                <a:cs typeface="Aptos"/>
              </a:defRPr>
            </a:pPr>
            <a:r>
              <a:t>04 • ARCHITECTURE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A5E7E6-BF49-4EC6-A5A3-06D37CE2553A}"/>
              </a:ext>
            </a:extLst>
          </p:cNvPr>
          <p:cNvSpPr>
            <a:spLocks noGrp="1"/>
          </p:cNvSpPr>
          <p:nvPr/>
        </p:nvSpPr>
        <p:spPr>
          <a:xfrm>
            <a:off x="594360" y="502920"/>
            <a:ext cx="10515600" cy="518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8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Grocery Retail Architecture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3672C2-8F6A-4EA2-B0EA-D2C6BD77E56B}"/>
              </a:ext>
            </a:extLst>
          </p:cNvPr>
          <p:cNvSpPr>
            <a:spLocks noGrp="1"/>
          </p:cNvSpPr>
          <p:nvPr/>
        </p:nvSpPr>
        <p:spPr>
          <a:xfrm>
            <a:off x="594360" y="1078992"/>
            <a:ext cx="914400" cy="54864"/>
          </a:xfrm>
          <a:prstGeom prst="rect">
            <a:avLst/>
          </a:prstGeom>
          <a:solidFill>
            <a:srgbClr val="28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474E61-5163-4DE7-BCC2-515CE70ABA20}"/>
              </a:ext>
            </a:extLst>
          </p:cNvPr>
          <p:cNvSpPr>
            <a:spLocks noGrp="1"/>
          </p:cNvSpPr>
          <p:nvPr/>
        </p:nvSpPr>
        <p:spPr>
          <a:xfrm>
            <a:off x="11064240" y="41148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uNone/>
              <a:defRPr sz="120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05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0AF0EED-ABC8-4266-8FA8-9CC9F2EEF3BE}"/>
              </a:ext>
            </a:extLst>
          </p:cNvPr>
          <p:cNvSpPr>
            <a:spLocks noGrp="1"/>
          </p:cNvSpPr>
          <p:nvPr/>
        </p:nvSpPr>
        <p:spPr>
          <a:xfrm>
            <a:off x="502920" y="2240280"/>
            <a:ext cx="12344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7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F4C365-FBE7-4188-A9D3-F2C262C3BCA0}"/>
              </a:ext>
            </a:extLst>
          </p:cNvPr>
          <p:cNvSpPr>
            <a:spLocks noGrp="1"/>
          </p:cNvSpPr>
          <p:nvPr/>
        </p:nvSpPr>
        <p:spPr>
          <a:xfrm>
            <a:off x="502920" y="2395728"/>
            <a:ext cx="1234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400" b="1">
                <a:solidFill>
                  <a:srgbClr val="2677BE"/>
                </a:solidFill>
                <a:latin typeface="Aptos"/>
                <a:ea typeface="Aptos"/>
                <a:cs typeface="Aptos"/>
              </a:defRPr>
            </a:pPr>
            <a:r>
              <a:t>CSV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DE9084-3C98-47AD-98B9-706995B24AB1}"/>
              </a:ext>
            </a:extLst>
          </p:cNvPr>
          <p:cNvSpPr>
            <a:spLocks noGrp="1"/>
          </p:cNvSpPr>
          <p:nvPr/>
        </p:nvSpPr>
        <p:spPr>
          <a:xfrm>
            <a:off x="576072" y="2788920"/>
            <a:ext cx="108813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950" b="1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Retail
Sources</a:t>
            </a:r>
          </a:p>
        </p:txBody>
      </p:sp>
      <p:sp>
        <p:nvSpPr>
          <p:cNvPr id="10" name="Connector 9">
            <a:extLst>
              <a:ext uri="{FF2B5EF4-FFF2-40B4-BE49-F238E27FC236}">
                <a16:creationId xmlns:a16="http://schemas.microsoft.com/office/drawing/2014/main" id="{2AC54826-3AA9-46C4-A96A-96ADC3C01974}"/>
              </a:ext>
            </a:extLst>
          </p:cNvPr>
          <p:cNvSpPr>
            <a:spLocks noGrp="1"/>
          </p:cNvSpPr>
          <p:nvPr/>
        </p:nvSpPr>
        <p:spPr>
          <a:xfrm>
            <a:off x="1755648" y="2807208"/>
            <a:ext cx="338328" cy="0"/>
          </a:xfrm>
          <a:prstGeom prst="line">
            <a:avLst/>
          </a:prstGeom>
          <a:ln w="31750">
            <a:solidFill>
              <a:srgbClr val="267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D6D8756-293E-4B43-8BDC-F432E53FD130}"/>
              </a:ext>
            </a:extLst>
          </p:cNvPr>
          <p:cNvSpPr>
            <a:spLocks noGrp="1"/>
          </p:cNvSpPr>
          <p:nvPr/>
        </p:nvSpPr>
        <p:spPr>
          <a:xfrm>
            <a:off x="2148840" y="2240280"/>
            <a:ext cx="12344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8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DA25DB-C7AB-48E0-B8E0-0E55AE18B64E}"/>
              </a:ext>
            </a:extLst>
          </p:cNvPr>
          <p:cNvSpPr>
            <a:spLocks noGrp="1"/>
          </p:cNvSpPr>
          <p:nvPr/>
        </p:nvSpPr>
        <p:spPr>
          <a:xfrm>
            <a:off x="2148840" y="2395728"/>
            <a:ext cx="1234440" cy="30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400" b="1">
                <a:solidFill>
                  <a:srgbClr val="28BEC9"/>
                </a:solidFill>
                <a:latin typeface="Aptos"/>
                <a:ea typeface="Aptos"/>
                <a:cs typeface="Aptos"/>
              </a:defRPr>
            </a:pPr>
            <a:r>
              <a:t>ADLS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3D21EA-DCA8-4DFE-9A5A-8EE450D2877B}"/>
              </a:ext>
            </a:extLst>
          </p:cNvPr>
          <p:cNvSpPr>
            <a:spLocks noGrp="1"/>
          </p:cNvSpPr>
          <p:nvPr/>
        </p:nvSpPr>
        <p:spPr>
          <a:xfrm>
            <a:off x="2221992" y="2788920"/>
            <a:ext cx="108813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950" b="1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Raw / Data</a:t>
            </a:r>
            <a:br/>
            <a:r>
              <a:t>Lake</a:t>
            </a:r>
          </a:p>
        </p:txBody>
      </p:sp>
      <p:sp>
        <p:nvSpPr>
          <p:cNvPr id="14" name="Connector 13">
            <a:extLst>
              <a:ext uri="{FF2B5EF4-FFF2-40B4-BE49-F238E27FC236}">
                <a16:creationId xmlns:a16="http://schemas.microsoft.com/office/drawing/2014/main" id="{44C3E2F3-64EC-42D7-9AF0-200F44C28894}"/>
              </a:ext>
            </a:extLst>
          </p:cNvPr>
          <p:cNvSpPr>
            <a:spLocks noGrp="1"/>
          </p:cNvSpPr>
          <p:nvPr/>
        </p:nvSpPr>
        <p:spPr>
          <a:xfrm>
            <a:off x="3401568" y="2807208"/>
            <a:ext cx="338328" cy="0"/>
          </a:xfrm>
          <a:prstGeom prst="line">
            <a:avLst/>
          </a:prstGeom>
          <a:ln w="31750">
            <a:solidFill>
              <a:srgbClr val="28BE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2A3601A-CCE5-44FD-8CB1-FD69095CDAFA}"/>
              </a:ext>
            </a:extLst>
          </p:cNvPr>
          <p:cNvSpPr>
            <a:spLocks noGrp="1"/>
          </p:cNvSpPr>
          <p:nvPr/>
        </p:nvSpPr>
        <p:spPr>
          <a:xfrm>
            <a:off x="3794760" y="2240280"/>
            <a:ext cx="12344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5CD64A-F8F4-4907-9DF8-97997BB04A3D}"/>
              </a:ext>
            </a:extLst>
          </p:cNvPr>
          <p:cNvSpPr>
            <a:spLocks noGrp="1"/>
          </p:cNvSpPr>
          <p:nvPr/>
        </p:nvSpPr>
        <p:spPr>
          <a:xfrm>
            <a:off x="3794760" y="2395728"/>
            <a:ext cx="1234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400" b="1">
                <a:solidFill>
                  <a:srgbClr val="189D8B"/>
                </a:solidFill>
                <a:latin typeface="Aptos"/>
                <a:ea typeface="Aptos"/>
                <a:cs typeface="Aptos"/>
              </a:defRPr>
            </a:pPr>
            <a:r>
              <a:t>ADF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E2C828-B5A6-4B88-86E6-E36E7F07938D}"/>
              </a:ext>
            </a:extLst>
          </p:cNvPr>
          <p:cNvSpPr>
            <a:spLocks noGrp="1"/>
          </p:cNvSpPr>
          <p:nvPr/>
        </p:nvSpPr>
        <p:spPr>
          <a:xfrm>
            <a:off x="3867912" y="2788920"/>
            <a:ext cx="108813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950" b="1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Ingestion +</a:t>
            </a:r>
            <a:br/>
            <a:r>
              <a:t>Parquet</a:t>
            </a:r>
          </a:p>
        </p:txBody>
      </p:sp>
      <p:sp>
        <p:nvSpPr>
          <p:cNvPr id="18" name="Connector 17">
            <a:extLst>
              <a:ext uri="{FF2B5EF4-FFF2-40B4-BE49-F238E27FC236}">
                <a16:creationId xmlns:a16="http://schemas.microsoft.com/office/drawing/2014/main" id="{9079CDB5-5873-44EA-9079-6441A1B0B30A}"/>
              </a:ext>
            </a:extLst>
          </p:cNvPr>
          <p:cNvSpPr>
            <a:spLocks noGrp="1"/>
          </p:cNvSpPr>
          <p:nvPr/>
        </p:nvSpPr>
        <p:spPr>
          <a:xfrm>
            <a:off x="5047488" y="2807208"/>
            <a:ext cx="338328" cy="0"/>
          </a:xfrm>
          <a:prstGeom prst="line">
            <a:avLst/>
          </a:prstGeom>
          <a:ln w="31750">
            <a:solidFill>
              <a:srgbClr val="189D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0EDC7720-54DF-41B8-ABE0-B0A7A7CB6301}"/>
              </a:ext>
            </a:extLst>
          </p:cNvPr>
          <p:cNvSpPr>
            <a:spLocks noGrp="1"/>
          </p:cNvSpPr>
          <p:nvPr/>
        </p:nvSpPr>
        <p:spPr>
          <a:xfrm>
            <a:off x="5440680" y="2240280"/>
            <a:ext cx="12344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1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BB47289-03DE-42D1-908A-64F34D41CC52}"/>
              </a:ext>
            </a:extLst>
          </p:cNvPr>
          <p:cNvSpPr>
            <a:spLocks noGrp="1"/>
          </p:cNvSpPr>
          <p:nvPr/>
        </p:nvSpPr>
        <p:spPr>
          <a:xfrm>
            <a:off x="5440680" y="2395728"/>
            <a:ext cx="1234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400" b="1">
                <a:solidFill>
                  <a:srgbClr val="715BBE"/>
                </a:solidFill>
                <a:latin typeface="Aptos"/>
                <a:ea typeface="Aptos"/>
                <a:cs typeface="Aptos"/>
              </a:defRPr>
            </a:pPr>
            <a:r>
              <a:t>DBX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8F0F8BD-6FC3-4DDD-B1D7-4B9DB7F06F84}"/>
              </a:ext>
            </a:extLst>
          </p:cNvPr>
          <p:cNvSpPr>
            <a:spLocks noGrp="1"/>
          </p:cNvSpPr>
          <p:nvPr/>
        </p:nvSpPr>
        <p:spPr>
          <a:xfrm>
            <a:off x="5513832" y="2788920"/>
            <a:ext cx="108813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950" b="1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Databricks</a:t>
            </a:r>
            <a:br/>
            <a:r>
              <a:t>Bronze</a:t>
            </a:r>
          </a:p>
        </p:txBody>
      </p:sp>
      <p:sp>
        <p:nvSpPr>
          <p:cNvPr id="22" name="Connector 21">
            <a:extLst>
              <a:ext uri="{FF2B5EF4-FFF2-40B4-BE49-F238E27FC236}">
                <a16:creationId xmlns:a16="http://schemas.microsoft.com/office/drawing/2014/main" id="{C46E7A3A-6FF9-4E61-B9DC-332CFB761018}"/>
              </a:ext>
            </a:extLst>
          </p:cNvPr>
          <p:cNvSpPr>
            <a:spLocks noGrp="1"/>
          </p:cNvSpPr>
          <p:nvPr/>
        </p:nvSpPr>
        <p:spPr>
          <a:xfrm>
            <a:off x="6693408" y="2807208"/>
            <a:ext cx="338328" cy="0"/>
          </a:xfrm>
          <a:prstGeom prst="line">
            <a:avLst/>
          </a:prstGeom>
          <a:ln w="31750">
            <a:solidFill>
              <a:srgbClr val="715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29C2A7C1-2ABD-4278-88E3-039392B3EF71}"/>
              </a:ext>
            </a:extLst>
          </p:cNvPr>
          <p:cNvSpPr>
            <a:spLocks noGrp="1"/>
          </p:cNvSpPr>
          <p:nvPr/>
        </p:nvSpPr>
        <p:spPr>
          <a:xfrm>
            <a:off x="7086600" y="2240280"/>
            <a:ext cx="12344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2B1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EA6014D-15C5-4142-B265-517B0FD1E1A4}"/>
              </a:ext>
            </a:extLst>
          </p:cNvPr>
          <p:cNvSpPr>
            <a:spLocks noGrp="1"/>
          </p:cNvSpPr>
          <p:nvPr/>
        </p:nvSpPr>
        <p:spPr>
          <a:xfrm>
            <a:off x="7086600" y="2395728"/>
            <a:ext cx="1234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400" b="1">
                <a:solidFill>
                  <a:srgbClr val="42B174"/>
                </a:solidFill>
                <a:latin typeface="Aptos"/>
                <a:ea typeface="Aptos"/>
                <a:cs typeface="Aptos"/>
              </a:defRPr>
            </a:pPr>
            <a:r>
              <a:t>SILVER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309A3A1-4352-455E-9672-16BCF7A2AC86}"/>
              </a:ext>
            </a:extLst>
          </p:cNvPr>
          <p:cNvSpPr>
            <a:spLocks noGrp="1"/>
          </p:cNvSpPr>
          <p:nvPr/>
        </p:nvSpPr>
        <p:spPr>
          <a:xfrm>
            <a:off x="7159752" y="2788920"/>
            <a:ext cx="108813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950" b="1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Clean +</a:t>
            </a:r>
            <a:br/>
            <a:r>
              <a:t>Enrich</a:t>
            </a:r>
          </a:p>
        </p:txBody>
      </p:sp>
      <p:sp>
        <p:nvSpPr>
          <p:cNvPr id="26" name="Connector 25">
            <a:extLst>
              <a:ext uri="{FF2B5EF4-FFF2-40B4-BE49-F238E27FC236}">
                <a16:creationId xmlns:a16="http://schemas.microsoft.com/office/drawing/2014/main" id="{34662E58-5F19-4E1D-9816-483CAFCE79F6}"/>
              </a:ext>
            </a:extLst>
          </p:cNvPr>
          <p:cNvSpPr>
            <a:spLocks noGrp="1"/>
          </p:cNvSpPr>
          <p:nvPr/>
        </p:nvSpPr>
        <p:spPr>
          <a:xfrm>
            <a:off x="8339328" y="2807208"/>
            <a:ext cx="338328" cy="0"/>
          </a:xfrm>
          <a:prstGeom prst="line">
            <a:avLst/>
          </a:prstGeom>
          <a:ln w="31750">
            <a:solidFill>
              <a:srgbClr val="42B1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4AF5A829-F03C-4C11-BE4A-E7FA4A8BFA5F}"/>
              </a:ext>
            </a:extLst>
          </p:cNvPr>
          <p:cNvSpPr>
            <a:spLocks noGrp="1"/>
          </p:cNvSpPr>
          <p:nvPr/>
        </p:nvSpPr>
        <p:spPr>
          <a:xfrm>
            <a:off x="8732520" y="2240280"/>
            <a:ext cx="12344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9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BCA48F3-27A8-4B2E-9DB9-063DDDB1ACED}"/>
              </a:ext>
            </a:extLst>
          </p:cNvPr>
          <p:cNvSpPr>
            <a:spLocks noGrp="1"/>
          </p:cNvSpPr>
          <p:nvPr/>
        </p:nvSpPr>
        <p:spPr>
          <a:xfrm>
            <a:off x="8732520" y="2395728"/>
            <a:ext cx="1234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400" b="1">
                <a:solidFill>
                  <a:srgbClr val="F29746"/>
                </a:solidFill>
                <a:latin typeface="Aptos"/>
                <a:ea typeface="Aptos"/>
                <a:cs typeface="Aptos"/>
              </a:defRPr>
            </a:pPr>
            <a:r>
              <a:t>GOLD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64EF40E-D1BA-4C38-BD91-5E2A3246075D}"/>
              </a:ext>
            </a:extLst>
          </p:cNvPr>
          <p:cNvSpPr>
            <a:spLocks noGrp="1"/>
          </p:cNvSpPr>
          <p:nvPr/>
        </p:nvSpPr>
        <p:spPr>
          <a:xfrm>
            <a:off x="8805672" y="2788920"/>
            <a:ext cx="108813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950" b="1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Metrics +
Insights</a:t>
            </a:r>
          </a:p>
        </p:txBody>
      </p:sp>
      <p:sp>
        <p:nvSpPr>
          <p:cNvPr id="30" name="Connector 29">
            <a:extLst>
              <a:ext uri="{FF2B5EF4-FFF2-40B4-BE49-F238E27FC236}">
                <a16:creationId xmlns:a16="http://schemas.microsoft.com/office/drawing/2014/main" id="{12CD89E1-63C7-47FB-AD46-579205D1F427}"/>
              </a:ext>
            </a:extLst>
          </p:cNvPr>
          <p:cNvSpPr>
            <a:spLocks noGrp="1"/>
          </p:cNvSpPr>
          <p:nvPr/>
        </p:nvSpPr>
        <p:spPr>
          <a:xfrm>
            <a:off x="9985248" y="2807208"/>
            <a:ext cx="338328" cy="0"/>
          </a:xfrm>
          <a:prstGeom prst="line">
            <a:avLst/>
          </a:prstGeom>
          <a:ln w="31750">
            <a:solidFill>
              <a:srgbClr val="F297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25BB6557-5FDB-4835-81DB-560185A200E5}"/>
              </a:ext>
            </a:extLst>
          </p:cNvPr>
          <p:cNvSpPr>
            <a:spLocks noGrp="1"/>
          </p:cNvSpPr>
          <p:nvPr/>
        </p:nvSpPr>
        <p:spPr>
          <a:xfrm>
            <a:off x="10378440" y="2240280"/>
            <a:ext cx="12344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C1DD7BB-3BCC-4FEB-9DF8-76BEC09B6AFC}"/>
              </a:ext>
            </a:extLst>
          </p:cNvPr>
          <p:cNvSpPr>
            <a:spLocks noGrp="1"/>
          </p:cNvSpPr>
          <p:nvPr/>
        </p:nvSpPr>
        <p:spPr>
          <a:xfrm>
            <a:off x="10378440" y="2395728"/>
            <a:ext cx="1234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400" b="1">
                <a:solidFill>
                  <a:srgbClr val="E05B5B"/>
                </a:solidFill>
                <a:latin typeface="Aptos"/>
                <a:ea typeface="Aptos"/>
                <a:cs typeface="Aptos"/>
              </a:defRPr>
            </a:pPr>
            <a:r>
              <a:t>BI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DAB6AFE-217A-4C89-90AD-B8C017881FDA}"/>
              </a:ext>
            </a:extLst>
          </p:cNvPr>
          <p:cNvSpPr>
            <a:spLocks noGrp="1"/>
          </p:cNvSpPr>
          <p:nvPr/>
        </p:nvSpPr>
        <p:spPr>
          <a:xfrm>
            <a:off x="10451592" y="2788920"/>
            <a:ext cx="108813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950" b="1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Dashboards</a:t>
            </a:r>
            <a:br/>
            <a:r>
              <a:t>&amp; Insights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93DAA1B-9202-4B33-81E5-8ABFEC871322}"/>
              </a:ext>
            </a:extLst>
          </p:cNvPr>
          <p:cNvSpPr>
            <a:spLocks noGrp="1"/>
          </p:cNvSpPr>
          <p:nvPr/>
        </p:nvSpPr>
        <p:spPr>
          <a:xfrm>
            <a:off x="685800" y="40690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3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CROSS-CUTTING CONTROLS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E666FB9F-C43C-4DAE-86A9-1124D4843ADC}"/>
              </a:ext>
            </a:extLst>
          </p:cNvPr>
          <p:cNvSpPr>
            <a:spLocks noGrp="1"/>
          </p:cNvSpPr>
          <p:nvPr/>
        </p:nvSpPr>
        <p:spPr>
          <a:xfrm>
            <a:off x="731520" y="4572000"/>
            <a:ext cx="1554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7BEEA30-4603-49D7-82D8-14BE35D320B4}"/>
              </a:ext>
            </a:extLst>
          </p:cNvPr>
          <p:cNvSpPr>
            <a:spLocks noGrp="1"/>
          </p:cNvSpPr>
          <p:nvPr/>
        </p:nvSpPr>
        <p:spPr>
          <a:xfrm>
            <a:off x="731520" y="4727448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050" b="1">
                <a:solidFill>
                  <a:srgbClr val="715BBE"/>
                </a:solidFill>
                <a:latin typeface="Aptos"/>
                <a:ea typeface="Aptos"/>
                <a:cs typeface="Aptos"/>
              </a:defRPr>
            </a:pPr>
            <a:r>
              <a:t>Unity Catalog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A1A60AD6-F482-45E5-BC84-891E9558B411}"/>
              </a:ext>
            </a:extLst>
          </p:cNvPr>
          <p:cNvSpPr>
            <a:spLocks noGrp="1"/>
          </p:cNvSpPr>
          <p:nvPr/>
        </p:nvSpPr>
        <p:spPr>
          <a:xfrm>
            <a:off x="2560320" y="4572000"/>
            <a:ext cx="1554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C08D2C5-3134-413F-886D-4836991630A4}"/>
              </a:ext>
            </a:extLst>
          </p:cNvPr>
          <p:cNvSpPr>
            <a:spLocks noGrp="1"/>
          </p:cNvSpPr>
          <p:nvPr/>
        </p:nvSpPr>
        <p:spPr>
          <a:xfrm>
            <a:off x="2560320" y="4727448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050" b="1">
                <a:solidFill>
                  <a:srgbClr val="189D8B"/>
                </a:solidFill>
                <a:latin typeface="Aptos"/>
                <a:ea typeface="Aptos"/>
                <a:cs typeface="Aptos"/>
              </a:defRPr>
            </a:pPr>
            <a:r>
              <a:t>dbt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C0A41423-74F7-41E5-A792-FA927FFAD48E}"/>
              </a:ext>
            </a:extLst>
          </p:cNvPr>
          <p:cNvSpPr>
            <a:spLocks noGrp="1"/>
          </p:cNvSpPr>
          <p:nvPr/>
        </p:nvSpPr>
        <p:spPr>
          <a:xfrm>
            <a:off x="4389120" y="4572000"/>
            <a:ext cx="1554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C92F9AE-65D8-4DB9-9C9D-DACE6F2A2407}"/>
              </a:ext>
            </a:extLst>
          </p:cNvPr>
          <p:cNvSpPr>
            <a:spLocks noGrp="1"/>
          </p:cNvSpPr>
          <p:nvPr/>
        </p:nvSpPr>
        <p:spPr>
          <a:xfrm>
            <a:off x="4389120" y="4727448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050" b="1">
                <a:solidFill>
                  <a:srgbClr val="F29746"/>
                </a:solidFill>
                <a:latin typeface="Aptos"/>
                <a:ea typeface="Aptos"/>
                <a:cs typeface="Aptos"/>
              </a:defRPr>
            </a:pPr>
            <a:r>
              <a:t>Airflow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08BC1A63-91AB-494A-A9F0-20FBA37C9C0E}"/>
              </a:ext>
            </a:extLst>
          </p:cNvPr>
          <p:cNvSpPr>
            <a:spLocks noGrp="1"/>
          </p:cNvSpPr>
          <p:nvPr/>
        </p:nvSpPr>
        <p:spPr>
          <a:xfrm>
            <a:off x="6217920" y="4572000"/>
            <a:ext cx="1554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AA11302-9B84-484E-9823-0E9524EF4F2E}"/>
              </a:ext>
            </a:extLst>
          </p:cNvPr>
          <p:cNvSpPr>
            <a:spLocks noGrp="1"/>
          </p:cNvSpPr>
          <p:nvPr/>
        </p:nvSpPr>
        <p:spPr>
          <a:xfrm>
            <a:off x="6217920" y="4727448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050" b="1">
                <a:solidFill>
                  <a:srgbClr val="2677BE"/>
                </a:solidFill>
                <a:latin typeface="Aptos"/>
                <a:ea typeface="Aptos"/>
                <a:cs typeface="Aptos"/>
              </a:defRPr>
            </a:pPr>
            <a:r>
              <a:t>PyTest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A83837EF-E07F-4A9A-B6DF-0E55A67BB11F}"/>
              </a:ext>
            </a:extLst>
          </p:cNvPr>
          <p:cNvSpPr>
            <a:spLocks noGrp="1"/>
          </p:cNvSpPr>
          <p:nvPr/>
        </p:nvSpPr>
        <p:spPr>
          <a:xfrm>
            <a:off x="8046720" y="4572000"/>
            <a:ext cx="1554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D18D1E9-1952-4782-99B1-1585003A6C76}"/>
              </a:ext>
            </a:extLst>
          </p:cNvPr>
          <p:cNvSpPr>
            <a:spLocks noGrp="1"/>
          </p:cNvSpPr>
          <p:nvPr/>
        </p:nvSpPr>
        <p:spPr>
          <a:xfrm>
            <a:off x="8046720" y="4727448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050" b="1">
                <a:solidFill>
                  <a:srgbClr val="E05B5B"/>
                </a:solidFill>
                <a:latin typeface="Aptos"/>
                <a:ea typeface="Aptos"/>
                <a:cs typeface="Aptos"/>
              </a:defRPr>
            </a:pPr>
            <a:r>
              <a:t>Slack Alerts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C1CFA06D-7805-47EC-A474-0959D2A928BD}"/>
              </a:ext>
            </a:extLst>
          </p:cNvPr>
          <p:cNvSpPr>
            <a:spLocks noGrp="1"/>
          </p:cNvSpPr>
          <p:nvPr/>
        </p:nvSpPr>
        <p:spPr>
          <a:xfrm>
            <a:off x="9875520" y="4572000"/>
            <a:ext cx="1554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4BCE521-EF55-47F3-BB0F-F69FC667F334}"/>
              </a:ext>
            </a:extLst>
          </p:cNvPr>
          <p:cNvSpPr>
            <a:spLocks noGrp="1"/>
          </p:cNvSpPr>
          <p:nvPr/>
        </p:nvSpPr>
        <p:spPr>
          <a:xfrm>
            <a:off x="9875520" y="4727448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05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Error Logs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BB7C8AE-5CB3-4A73-87B1-74122DEBAF25}"/>
              </a:ext>
            </a:extLst>
          </p:cNvPr>
          <p:cNvSpPr>
            <a:spLocks noGrp="1"/>
          </p:cNvSpPr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CBFED15-F9A5-4B52-8867-DC3073785295}"/>
              </a:ext>
            </a:extLst>
          </p:cNvPr>
          <p:cNvSpPr>
            <a:spLocks noGrp="1"/>
          </p:cNvSpPr>
          <p:nvPr/>
        </p:nvSpPr>
        <p:spPr>
          <a:xfrm>
            <a:off x="594360" y="6574536"/>
            <a:ext cx="5029200" cy="198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70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GROCERY RETAIL ANALYTICS  •  DATA ENGINEERING PROJECT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516FA8D-5AB0-48B1-9B0E-B1FAE811472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5"/>
          </a:solidFill>
          <a:ln w="0">
            <a:noFill/>
          </a:ln>
        </p:spPr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3C941B4-C628-4382-929E-C57CBFB9C1F1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975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04 • HIGH-LEVEL ARCHITECTURE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C724DD2-413F-49D0-ABEC-08BD4D77E7F3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81915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849" lnSpcReduction="10000"/>
          </a:bodyPr>
          <a:lstStyle/>
          <a:p>
            <a:pPr>
              <a:defRPr sz="2325" b="1">
                <a:solidFill>
                  <a:srgbClr val="173C2D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 dirty="0">
                <a:solidFill>
                  <a:srgbClr val="173C2D"/>
                </a:solidFill>
                <a:latin typeface="Aptos Display"/>
                <a:ea typeface="Aptos Display"/>
                <a:cs typeface="Aptos Display"/>
              </a:rPr>
              <a:t>Grocery </a:t>
            </a:r>
            <a:r>
              <a:rPr lang="en-US" sz="2325" b="1" dirty="0">
                <a:solidFill>
                  <a:srgbClr val="173C2D"/>
                </a:solidFill>
                <a:latin typeface="Aptos Display"/>
                <a:ea typeface="Aptos Display"/>
                <a:cs typeface="Aptos Display"/>
              </a:rPr>
              <a:t>Sales</a:t>
            </a:r>
            <a:r>
              <a:rPr sz="2325" b="1" dirty="0">
                <a:solidFill>
                  <a:srgbClr val="173C2D"/>
                </a:solidFill>
                <a:latin typeface="Aptos Display"/>
                <a:ea typeface="Aptos Display"/>
                <a:cs typeface="Aptos Display"/>
              </a:rPr>
              <a:t> Data Model Pipeline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A62D94E-FE8D-49BE-8EC7-82B103B3DA1A}"/>
              </a:ext>
            </a:extLst>
          </p:cNvPr>
          <p:cNvSpPr>
            <a:spLocks noGrp="1"/>
          </p:cNvSpPr>
          <p:nvPr/>
        </p:nvSpPr>
        <p:spPr>
          <a:xfrm>
            <a:off x="685800" y="1104900"/>
            <a:ext cx="1066800" cy="47625"/>
          </a:xfrm>
          <a:prstGeom prst="rect">
            <a:avLst/>
          </a:prstGeom>
          <a:solidFill>
            <a:srgbClr val="D46A2E"/>
          </a:solidFill>
          <a:ln w="0">
            <a:noFill/>
          </a:ln>
        </p:spPr>
      </p:sp>
      <p:pic>
        <p:nvPicPr>
          <p:cNvPr id="105" name="Picture 10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109788" y="1257300"/>
            <a:ext cx="7972425" cy="531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760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1E1D53F-062C-44C9-9ED6-8986F8386AE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5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8F3772-393A-4947-92F9-0395334FCD4D}"/>
              </a:ext>
            </a:extLst>
          </p:cNvPr>
          <p:cNvSpPr>
            <a:spLocks noGrp="1"/>
          </p:cNvSpPr>
          <p:nvPr/>
        </p:nvSpPr>
        <p:spPr>
          <a:xfrm>
            <a:off x="685800" y="209550"/>
            <a:ext cx="57150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125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1125" b="1" dirty="0">
                <a:solidFill>
                  <a:srgbClr val="2F7D5C"/>
                </a:solidFill>
                <a:latin typeface="Aptos"/>
                <a:ea typeface="Aptos"/>
                <a:cs typeface="Aptos"/>
              </a:rPr>
              <a:t>05 • LOW-LEVEL GROCERY</a:t>
            </a:r>
            <a:r>
              <a:rPr lang="en-US" sz="1125" b="1" dirty="0">
                <a:solidFill>
                  <a:srgbClr val="2F7D5C"/>
                </a:solidFill>
                <a:latin typeface="Aptos"/>
                <a:ea typeface="Aptos"/>
                <a:cs typeface="Aptos"/>
              </a:rPr>
              <a:t> SALES</a:t>
            </a:r>
            <a:r>
              <a:rPr sz="1125" b="1" dirty="0">
                <a:solidFill>
                  <a:srgbClr val="2F7D5C"/>
                </a:solidFill>
                <a:latin typeface="Aptos"/>
                <a:ea typeface="Aptos"/>
                <a:cs typeface="Aptos"/>
              </a:rPr>
              <a:t> DATA ENGINEERING ARCHITECTURE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018197" y="533400"/>
            <a:ext cx="4155605" cy="622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330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E30D048-74B1-4143-AB35-DE87F2DD714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956D1C-1086-4390-94B7-36F120CA4CDB}"/>
              </a:ext>
            </a:extLst>
          </p:cNvPr>
          <p:cNvSpPr>
            <a:spLocks noGrp="1"/>
          </p:cNvSpPr>
          <p:nvPr/>
        </p:nvSpPr>
        <p:spPr>
          <a:xfrm>
            <a:off x="594360" y="256032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000" b="1">
                <a:solidFill>
                  <a:srgbClr val="2677BE"/>
                </a:solidFill>
                <a:latin typeface="Aptos"/>
                <a:ea typeface="Aptos"/>
                <a:cs typeface="Aptos"/>
              </a:defRPr>
            </a:pPr>
            <a:r>
              <a:t>05 • DATA LAKE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3A0933-0742-4016-BB25-1C8A6933A856}"/>
              </a:ext>
            </a:extLst>
          </p:cNvPr>
          <p:cNvSpPr>
            <a:spLocks noGrp="1"/>
          </p:cNvSpPr>
          <p:nvPr/>
        </p:nvSpPr>
        <p:spPr>
          <a:xfrm>
            <a:off x="594360" y="5029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8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Storage &amp; Target Design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7108A5-909A-444B-8425-F01960154EBB}"/>
              </a:ext>
            </a:extLst>
          </p:cNvPr>
          <p:cNvSpPr>
            <a:spLocks noGrp="1"/>
          </p:cNvSpPr>
          <p:nvPr/>
        </p:nvSpPr>
        <p:spPr>
          <a:xfrm>
            <a:off x="594360" y="1078992"/>
            <a:ext cx="914400" cy="54864"/>
          </a:xfrm>
          <a:prstGeom prst="rect">
            <a:avLst/>
          </a:prstGeom>
          <a:solidFill>
            <a:srgbClr val="28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12033E-A5B3-4656-A8BE-D983E45246DC}"/>
              </a:ext>
            </a:extLst>
          </p:cNvPr>
          <p:cNvSpPr>
            <a:spLocks noGrp="1"/>
          </p:cNvSpPr>
          <p:nvPr/>
        </p:nvSpPr>
        <p:spPr>
          <a:xfrm>
            <a:off x="11064240" y="41148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uNone/>
              <a:defRPr sz="120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06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A533126-502B-4E82-BD8A-B23E04FE7845}"/>
              </a:ext>
            </a:extLst>
          </p:cNvPr>
          <p:cNvSpPr>
            <a:spLocks noGrp="1"/>
          </p:cNvSpPr>
          <p:nvPr/>
        </p:nvSpPr>
        <p:spPr>
          <a:xfrm>
            <a:off x="685800" y="1371600"/>
            <a:ext cx="1234440" cy="530352"/>
          </a:xfrm>
          <a:prstGeom prst="roundRect">
            <a:avLst/>
          </a:prstGeom>
          <a:solidFill>
            <a:srgbClr val="26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44CAFA-B2E0-464E-801C-1590B5AB1693}"/>
              </a:ext>
            </a:extLst>
          </p:cNvPr>
          <p:cNvSpPr>
            <a:spLocks noGrp="1"/>
          </p:cNvSpPr>
          <p:nvPr/>
        </p:nvSpPr>
        <p:spPr>
          <a:xfrm>
            <a:off x="685800" y="1508760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RAW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D4963A-AE2A-4C3D-BC79-2F2AE46E3B0E}"/>
              </a:ext>
            </a:extLst>
          </p:cNvPr>
          <p:cNvSpPr>
            <a:spLocks noGrp="1"/>
          </p:cNvSpPr>
          <p:nvPr/>
        </p:nvSpPr>
        <p:spPr>
          <a:xfrm>
            <a:off x="2148840" y="1435608"/>
            <a:ext cx="4297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2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Original CSV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08802D-4EDE-43C4-9C82-AD924101A77B}"/>
              </a:ext>
            </a:extLst>
          </p:cNvPr>
          <p:cNvSpPr>
            <a:spLocks noGrp="1"/>
          </p:cNvSpPr>
          <p:nvPr/>
        </p:nvSpPr>
        <p:spPr>
          <a:xfrm>
            <a:off x="6583680" y="1435608"/>
            <a:ext cx="4800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0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abfss://raw@grocerylake.dfs.core.windows.net/YYYY/MM/DD/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BDE429B-473F-45FF-A999-F41B83C72DA3}"/>
              </a:ext>
            </a:extLst>
          </p:cNvPr>
          <p:cNvSpPr>
            <a:spLocks noGrp="1"/>
          </p:cNvSpPr>
          <p:nvPr/>
        </p:nvSpPr>
        <p:spPr>
          <a:xfrm>
            <a:off x="685800" y="2121408"/>
            <a:ext cx="1234440" cy="530352"/>
          </a:xfrm>
          <a:prstGeom prst="roundRect">
            <a:avLst/>
          </a:prstGeom>
          <a:solidFill>
            <a:srgbClr val="28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00F454-D32E-4458-8710-08A25A49D796}"/>
              </a:ext>
            </a:extLst>
          </p:cNvPr>
          <p:cNvSpPr>
            <a:spLocks noGrp="1"/>
          </p:cNvSpPr>
          <p:nvPr/>
        </p:nvSpPr>
        <p:spPr>
          <a:xfrm>
            <a:off x="685800" y="2258568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PARQUET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8EF838-F456-4959-BEA0-64EED9D96C1B}"/>
              </a:ext>
            </a:extLst>
          </p:cNvPr>
          <p:cNvSpPr>
            <a:spLocks noGrp="1"/>
          </p:cNvSpPr>
          <p:nvPr/>
        </p:nvSpPr>
        <p:spPr>
          <a:xfrm>
            <a:off x="2148840" y="2185415"/>
            <a:ext cx="4297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2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Ingested format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97B2FC-6D78-462D-9A49-C925AF80AD19}"/>
              </a:ext>
            </a:extLst>
          </p:cNvPr>
          <p:cNvSpPr>
            <a:spLocks noGrp="1"/>
          </p:cNvSpPr>
          <p:nvPr/>
        </p:nvSpPr>
        <p:spPr>
          <a:xfrm>
            <a:off x="6583680" y="2185415"/>
            <a:ext cx="4800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0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Columnar files for scalable processing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1B4824CA-F010-4E31-9177-BA1A5830FF81}"/>
              </a:ext>
            </a:extLst>
          </p:cNvPr>
          <p:cNvSpPr>
            <a:spLocks noGrp="1"/>
          </p:cNvSpPr>
          <p:nvPr/>
        </p:nvSpPr>
        <p:spPr>
          <a:xfrm>
            <a:off x="685800" y="2871215"/>
            <a:ext cx="1234440" cy="530352"/>
          </a:xfrm>
          <a:prstGeom prst="roundRect">
            <a:avLst/>
          </a:prstGeom>
          <a:solidFill>
            <a:srgbClr val="71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30BF36-18D1-4177-89BB-AB40951D218A}"/>
              </a:ext>
            </a:extLst>
          </p:cNvPr>
          <p:cNvSpPr>
            <a:spLocks noGrp="1"/>
          </p:cNvSpPr>
          <p:nvPr/>
        </p:nvSpPr>
        <p:spPr>
          <a:xfrm>
            <a:off x="685800" y="3008375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BRONZE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6582E5-8C10-4979-A528-A70FCDD45BBF}"/>
              </a:ext>
            </a:extLst>
          </p:cNvPr>
          <p:cNvSpPr>
            <a:spLocks noGrp="1"/>
          </p:cNvSpPr>
          <p:nvPr/>
        </p:nvSpPr>
        <p:spPr>
          <a:xfrm>
            <a:off x="2148840" y="2935223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2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grocery_catalog.raw.transactions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163BFB5-6219-4A85-9C06-AC94ADDE0411}"/>
              </a:ext>
            </a:extLst>
          </p:cNvPr>
          <p:cNvSpPr>
            <a:spLocks noGrp="1"/>
          </p:cNvSpPr>
          <p:nvPr/>
        </p:nvSpPr>
        <p:spPr>
          <a:xfrm>
            <a:off x="6583680" y="2935223"/>
            <a:ext cx="4800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0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Raw Delta table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5414C1B-A869-4AFE-B073-85B6A490227F}"/>
              </a:ext>
            </a:extLst>
          </p:cNvPr>
          <p:cNvSpPr>
            <a:spLocks noGrp="1"/>
          </p:cNvSpPr>
          <p:nvPr/>
        </p:nvSpPr>
        <p:spPr>
          <a:xfrm>
            <a:off x="685800" y="3621024"/>
            <a:ext cx="1234440" cy="530352"/>
          </a:xfrm>
          <a:prstGeom prst="roundRect">
            <a:avLst/>
          </a:prstGeom>
          <a:solidFill>
            <a:srgbClr val="18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7AE5687-F6EE-41AB-B938-28E31770A07A}"/>
              </a:ext>
            </a:extLst>
          </p:cNvPr>
          <p:cNvSpPr>
            <a:spLocks noGrp="1"/>
          </p:cNvSpPr>
          <p:nvPr/>
        </p:nvSpPr>
        <p:spPr>
          <a:xfrm>
            <a:off x="685800" y="3758184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SILVER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80F2B2-259D-4DFC-8D74-FBFB5A272D45}"/>
              </a:ext>
            </a:extLst>
          </p:cNvPr>
          <p:cNvSpPr>
            <a:spLocks noGrp="1"/>
          </p:cNvSpPr>
          <p:nvPr/>
        </p:nvSpPr>
        <p:spPr>
          <a:xfrm>
            <a:off x="2148840" y="3685032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2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grocery_catalog.silver.clean_transactions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C657EDE-AF14-4D5A-AB10-2EB86B6C37B1}"/>
              </a:ext>
            </a:extLst>
          </p:cNvPr>
          <p:cNvSpPr>
            <a:spLocks noGrp="1"/>
          </p:cNvSpPr>
          <p:nvPr/>
        </p:nvSpPr>
        <p:spPr>
          <a:xfrm>
            <a:off x="6583680" y="3685032"/>
            <a:ext cx="4800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0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Cleaned &amp; standardized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EBE8143E-9EB6-4960-8DDB-1464FB1B23A4}"/>
              </a:ext>
            </a:extLst>
          </p:cNvPr>
          <p:cNvSpPr>
            <a:spLocks noGrp="1"/>
          </p:cNvSpPr>
          <p:nvPr/>
        </p:nvSpPr>
        <p:spPr>
          <a:xfrm>
            <a:off x="685800" y="4370831"/>
            <a:ext cx="1234440" cy="530352"/>
          </a:xfrm>
          <a:prstGeom prst="roundRect">
            <a:avLst/>
          </a:prstGeom>
          <a:solidFill>
            <a:srgbClr val="F29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CA3221A-F07C-4254-B6C8-B6937960D013}"/>
              </a:ext>
            </a:extLst>
          </p:cNvPr>
          <p:cNvSpPr>
            <a:spLocks noGrp="1"/>
          </p:cNvSpPr>
          <p:nvPr/>
        </p:nvSpPr>
        <p:spPr>
          <a:xfrm>
            <a:off x="685800" y="4507992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GOLD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3DB295B-564D-44B1-B092-5D2242BF320E}"/>
              </a:ext>
            </a:extLst>
          </p:cNvPr>
          <p:cNvSpPr>
            <a:spLocks noGrp="1"/>
          </p:cNvSpPr>
          <p:nvPr/>
        </p:nvSpPr>
        <p:spPr>
          <a:xfrm>
            <a:off x="2148840" y="4434840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2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grocery_catalog.gold.sales_metrics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2D56231-1876-4977-B30F-E6D0F00B116E}"/>
              </a:ext>
            </a:extLst>
          </p:cNvPr>
          <p:cNvSpPr>
            <a:spLocks noGrp="1"/>
          </p:cNvSpPr>
          <p:nvPr/>
        </p:nvSpPr>
        <p:spPr>
          <a:xfrm>
            <a:off x="6583680" y="4434840"/>
            <a:ext cx="4800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0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Aggregated sales and inventory metrics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2FADB003-6EE4-4C47-BE09-B89705D15F51}"/>
              </a:ext>
            </a:extLst>
          </p:cNvPr>
          <p:cNvSpPr>
            <a:spLocks noGrp="1"/>
          </p:cNvSpPr>
          <p:nvPr/>
        </p:nvSpPr>
        <p:spPr>
          <a:xfrm>
            <a:off x="685800" y="5120640"/>
            <a:ext cx="1234440" cy="530352"/>
          </a:xfrm>
          <a:prstGeom prst="roundRect">
            <a:avLst/>
          </a:prstGeom>
          <a:solidFill>
            <a:srgbClr val="E0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2C2FC8D-D876-4673-86FA-D41F364F631B}"/>
              </a:ext>
            </a:extLst>
          </p:cNvPr>
          <p:cNvSpPr>
            <a:spLocks noGrp="1"/>
          </p:cNvSpPr>
          <p:nvPr/>
        </p:nvSpPr>
        <p:spPr>
          <a:xfrm>
            <a:off x="685800" y="5257800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LOGS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BF15392-F9A3-4E57-963E-3FB5E0A1C387}"/>
              </a:ext>
            </a:extLst>
          </p:cNvPr>
          <p:cNvSpPr>
            <a:spLocks noGrp="1"/>
          </p:cNvSpPr>
          <p:nvPr/>
        </p:nvSpPr>
        <p:spPr>
          <a:xfrm>
            <a:off x="2148840" y="5184648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2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grocery_catalog.logs.etl_errors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FE5479F-AAAB-4492-9431-4036D5BFDCC9}"/>
              </a:ext>
            </a:extLst>
          </p:cNvPr>
          <p:cNvSpPr>
            <a:spLocks noGrp="1"/>
          </p:cNvSpPr>
          <p:nvPr/>
        </p:nvSpPr>
        <p:spPr>
          <a:xfrm>
            <a:off x="6583680" y="5184648"/>
            <a:ext cx="4800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0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Errors &amp; monitoring details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F8D6390-3D92-4D42-9579-D282FD7F6A08}"/>
              </a:ext>
            </a:extLst>
          </p:cNvPr>
          <p:cNvSpPr>
            <a:spLocks noGrp="1"/>
          </p:cNvSpPr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A6D6471-0F4E-4D8B-9A10-7C272EA6E32C}"/>
              </a:ext>
            </a:extLst>
          </p:cNvPr>
          <p:cNvSpPr>
            <a:spLocks noGrp="1"/>
          </p:cNvSpPr>
          <p:nvPr/>
        </p:nvSpPr>
        <p:spPr>
          <a:xfrm>
            <a:off x="594360" y="6574536"/>
            <a:ext cx="5029200" cy="198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70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GROCERY RETAIL ANALYTICS  •  DATA ENGINEERING PROJECT</a:t>
            </a:r>
          </a:p>
        </p:txBody>
      </p:sp>
    </p:spTree>
    <p:extLst>
      <p:ext uri="{BB962C8B-B14F-4D97-AF65-F5344CB8AC3E}">
        <p14:creationId xmlns:p14="http://schemas.microsoft.com/office/powerpoint/2010/main" val="481171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3838E2-DFD8-4052-8E86-67C5DD76368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C124F2-DEF6-4248-9287-74556E7B18AE}"/>
              </a:ext>
            </a:extLst>
          </p:cNvPr>
          <p:cNvSpPr>
            <a:spLocks noGrp="1"/>
          </p:cNvSpPr>
          <p:nvPr/>
        </p:nvSpPr>
        <p:spPr>
          <a:xfrm>
            <a:off x="594360" y="256032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000" b="1">
                <a:solidFill>
                  <a:srgbClr val="2677BE"/>
                </a:solidFill>
                <a:latin typeface="Aptos"/>
                <a:ea typeface="Aptos"/>
                <a:cs typeface="Aptos"/>
              </a:defRPr>
            </a:pPr>
            <a:r>
              <a:t>06 • MEDALLION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956D9C-C08C-4178-9513-164E2B634100}"/>
              </a:ext>
            </a:extLst>
          </p:cNvPr>
          <p:cNvSpPr>
            <a:spLocks noGrp="1"/>
          </p:cNvSpPr>
          <p:nvPr/>
        </p:nvSpPr>
        <p:spPr>
          <a:xfrm>
            <a:off x="594360" y="5029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8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Bronze → Silver → Gold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198F17-8E62-4A55-BBEA-F463224AC5AF}"/>
              </a:ext>
            </a:extLst>
          </p:cNvPr>
          <p:cNvSpPr>
            <a:spLocks noGrp="1"/>
          </p:cNvSpPr>
          <p:nvPr/>
        </p:nvSpPr>
        <p:spPr>
          <a:xfrm>
            <a:off x="594360" y="1078992"/>
            <a:ext cx="914400" cy="54864"/>
          </a:xfrm>
          <a:prstGeom prst="rect">
            <a:avLst/>
          </a:prstGeom>
          <a:solidFill>
            <a:srgbClr val="28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D90648-3452-4C39-91D0-EA4FE6C25069}"/>
              </a:ext>
            </a:extLst>
          </p:cNvPr>
          <p:cNvSpPr>
            <a:spLocks noGrp="1"/>
          </p:cNvSpPr>
          <p:nvPr/>
        </p:nvSpPr>
        <p:spPr>
          <a:xfrm>
            <a:off x="11064240" y="41148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uNone/>
              <a:defRPr sz="120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07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27E7F5E-F0D5-48B5-B96E-B9B267153470}"/>
              </a:ext>
            </a:extLst>
          </p:cNvPr>
          <p:cNvSpPr>
            <a:spLocks noGrp="1"/>
          </p:cNvSpPr>
          <p:nvPr/>
        </p:nvSpPr>
        <p:spPr>
          <a:xfrm>
            <a:off x="594360" y="1508760"/>
            <a:ext cx="34290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7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D9AB90-3DD9-463E-BA4B-3B7C3441D508}"/>
              </a:ext>
            </a:extLst>
          </p:cNvPr>
          <p:cNvSpPr>
            <a:spLocks noGrp="1"/>
          </p:cNvSpPr>
          <p:nvPr/>
        </p:nvSpPr>
        <p:spPr>
          <a:xfrm>
            <a:off x="594360" y="1508760"/>
            <a:ext cx="3429000" cy="731520"/>
          </a:xfrm>
          <a:prstGeom prst="rect">
            <a:avLst/>
          </a:prstGeom>
          <a:solidFill>
            <a:srgbClr val="26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E2F4AE-5CF0-49C5-A6BB-F02B4578075E}"/>
              </a:ext>
            </a:extLst>
          </p:cNvPr>
          <p:cNvSpPr>
            <a:spLocks noGrp="1"/>
          </p:cNvSpPr>
          <p:nvPr/>
        </p:nvSpPr>
        <p:spPr>
          <a:xfrm>
            <a:off x="594360" y="1719072"/>
            <a:ext cx="3429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BRONZE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20AD97-1451-4FB1-BF8C-42C5EDC5B94A}"/>
              </a:ext>
            </a:extLst>
          </p:cNvPr>
          <p:cNvSpPr>
            <a:spLocks noGrp="1"/>
          </p:cNvSpPr>
          <p:nvPr/>
        </p:nvSpPr>
        <p:spPr>
          <a:xfrm>
            <a:off x="850392" y="256032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200" b="1">
                <a:solidFill>
                  <a:srgbClr val="2677BE"/>
                </a:solidFill>
                <a:latin typeface="Aptos"/>
                <a:ea typeface="Aptos"/>
                <a:cs typeface="Aptos"/>
              </a:defRPr>
            </a:pPr>
            <a:r>
              <a:t>RAW FOUNDATION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B3C4FC-91EE-4DFE-90B6-B003BFECF332}"/>
              </a:ext>
            </a:extLst>
          </p:cNvPr>
          <p:cNvSpPr>
            <a:spLocks noGrp="1"/>
          </p:cNvSpPr>
          <p:nvPr/>
        </p:nvSpPr>
        <p:spPr>
          <a:xfrm>
            <a:off x="914400" y="3063240"/>
            <a:ext cx="2788920" cy="2011680"/>
          </a:xfrm>
          <a:prstGeom prst="roundRect">
            <a:avLst/>
          </a:prstGeom>
          <a:solidFill>
            <a:srgbClr val="E6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D2EAF3-81D3-4582-931B-61EDAE1B43CB}"/>
              </a:ext>
            </a:extLst>
          </p:cNvPr>
          <p:cNvSpPr>
            <a:spLocks noGrp="1"/>
          </p:cNvSpPr>
          <p:nvPr/>
        </p:nvSpPr>
        <p:spPr>
          <a:xfrm>
            <a:off x="1124712" y="3337560"/>
            <a:ext cx="23774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4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Preserve source data</a:t>
            </a:r>
            <a:br/>
            <a:r>
              <a:t>Traceability &amp; reprocessing</a:t>
            </a:r>
            <a:br/>
            <a:r>
              <a:t>Unity Catalog / Delta</a:t>
            </a:r>
          </a:p>
        </p:txBody>
      </p:sp>
      <p:sp>
        <p:nvSpPr>
          <p:cNvPr id="13" name="Connector 12">
            <a:extLst>
              <a:ext uri="{FF2B5EF4-FFF2-40B4-BE49-F238E27FC236}">
                <a16:creationId xmlns:a16="http://schemas.microsoft.com/office/drawing/2014/main" id="{1829151A-2F41-4E2F-953B-F206ED45DA8D}"/>
              </a:ext>
            </a:extLst>
          </p:cNvPr>
          <p:cNvSpPr>
            <a:spLocks noGrp="1"/>
          </p:cNvSpPr>
          <p:nvPr/>
        </p:nvSpPr>
        <p:spPr>
          <a:xfrm>
            <a:off x="4050791" y="3657600"/>
            <a:ext cx="347473" cy="0"/>
          </a:xfrm>
          <a:prstGeom prst="line">
            <a:avLst/>
          </a:prstGeom>
          <a:ln w="31750">
            <a:solidFill>
              <a:srgbClr val="267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25EDB16-003F-4F78-8040-0C0EE44CB582}"/>
              </a:ext>
            </a:extLst>
          </p:cNvPr>
          <p:cNvSpPr>
            <a:spLocks noGrp="1"/>
          </p:cNvSpPr>
          <p:nvPr/>
        </p:nvSpPr>
        <p:spPr>
          <a:xfrm>
            <a:off x="4453128" y="1508760"/>
            <a:ext cx="34290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FF6AF68-F0CB-4DC7-8F3A-810EED617718}"/>
              </a:ext>
            </a:extLst>
          </p:cNvPr>
          <p:cNvSpPr>
            <a:spLocks noGrp="1"/>
          </p:cNvSpPr>
          <p:nvPr/>
        </p:nvSpPr>
        <p:spPr>
          <a:xfrm>
            <a:off x="4453128" y="1508760"/>
            <a:ext cx="3429000" cy="731520"/>
          </a:xfrm>
          <a:prstGeom prst="rect">
            <a:avLst/>
          </a:prstGeom>
          <a:solidFill>
            <a:srgbClr val="18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159077-92A4-4B25-B0B1-AD0E46B8C0D1}"/>
              </a:ext>
            </a:extLst>
          </p:cNvPr>
          <p:cNvSpPr>
            <a:spLocks noGrp="1"/>
          </p:cNvSpPr>
          <p:nvPr/>
        </p:nvSpPr>
        <p:spPr>
          <a:xfrm>
            <a:off x="4453128" y="1719072"/>
            <a:ext cx="3429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SILVER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A62A3E-1B22-402E-A704-299F029FDAB2}"/>
              </a:ext>
            </a:extLst>
          </p:cNvPr>
          <p:cNvSpPr>
            <a:spLocks noGrp="1"/>
          </p:cNvSpPr>
          <p:nvPr/>
        </p:nvSpPr>
        <p:spPr>
          <a:xfrm>
            <a:off x="4709160" y="256032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200" b="1">
                <a:solidFill>
                  <a:srgbClr val="189D8B"/>
                </a:solidFill>
                <a:latin typeface="Aptos"/>
                <a:ea typeface="Aptos"/>
                <a:cs typeface="Aptos"/>
              </a:defRPr>
            </a:pPr>
            <a:r>
              <a:t>TRUSTED DATA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E68ED27B-3608-4F56-A564-E1124A4782C8}"/>
              </a:ext>
            </a:extLst>
          </p:cNvPr>
          <p:cNvSpPr>
            <a:spLocks noGrp="1"/>
          </p:cNvSpPr>
          <p:nvPr/>
        </p:nvSpPr>
        <p:spPr>
          <a:xfrm>
            <a:off x="4773168" y="3063240"/>
            <a:ext cx="2788920" cy="2011680"/>
          </a:xfrm>
          <a:prstGeom prst="roundRect">
            <a:avLst/>
          </a:prstGeom>
          <a:solidFill>
            <a:srgbClr val="E4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354D480-A47C-46A0-8DEC-94FA1EFFDF28}"/>
              </a:ext>
            </a:extLst>
          </p:cNvPr>
          <p:cNvSpPr>
            <a:spLocks noGrp="1"/>
          </p:cNvSpPr>
          <p:nvPr/>
        </p:nvSpPr>
        <p:spPr>
          <a:xfrm>
            <a:off x="4983480" y="3337560"/>
            <a:ext cx="23774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4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Clean &amp; deduplicate</a:t>
            </a:r>
            <a:br/>
            <a:r>
              <a:t>Standardize formats</a:t>
            </a:r>
            <a:br/>
            <a:r>
              <a:t>Join dimensions</a:t>
            </a:r>
          </a:p>
        </p:txBody>
      </p:sp>
      <p:sp>
        <p:nvSpPr>
          <p:cNvPr id="20" name="Connector 19">
            <a:extLst>
              <a:ext uri="{FF2B5EF4-FFF2-40B4-BE49-F238E27FC236}">
                <a16:creationId xmlns:a16="http://schemas.microsoft.com/office/drawing/2014/main" id="{902B0A0D-431D-4945-960D-EB3DFA2F9207}"/>
              </a:ext>
            </a:extLst>
          </p:cNvPr>
          <p:cNvSpPr>
            <a:spLocks noGrp="1"/>
          </p:cNvSpPr>
          <p:nvPr/>
        </p:nvSpPr>
        <p:spPr>
          <a:xfrm>
            <a:off x="7909560" y="3657600"/>
            <a:ext cx="347472" cy="0"/>
          </a:xfrm>
          <a:prstGeom prst="line">
            <a:avLst/>
          </a:prstGeom>
          <a:ln w="31750">
            <a:solidFill>
              <a:srgbClr val="189D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931D439D-145F-4FF9-B46D-1B6146DCAF8F}"/>
              </a:ext>
            </a:extLst>
          </p:cNvPr>
          <p:cNvSpPr>
            <a:spLocks noGrp="1"/>
          </p:cNvSpPr>
          <p:nvPr/>
        </p:nvSpPr>
        <p:spPr>
          <a:xfrm>
            <a:off x="8311896" y="1508760"/>
            <a:ext cx="34290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9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FAEE27B-8B45-454F-A5EE-E72362B1605C}"/>
              </a:ext>
            </a:extLst>
          </p:cNvPr>
          <p:cNvSpPr>
            <a:spLocks noGrp="1"/>
          </p:cNvSpPr>
          <p:nvPr/>
        </p:nvSpPr>
        <p:spPr>
          <a:xfrm>
            <a:off x="8311896" y="1508760"/>
            <a:ext cx="3429000" cy="731520"/>
          </a:xfrm>
          <a:prstGeom prst="rect">
            <a:avLst/>
          </a:prstGeom>
          <a:solidFill>
            <a:srgbClr val="F29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94435BE-51E7-4663-9F35-CA0536CD50E1}"/>
              </a:ext>
            </a:extLst>
          </p:cNvPr>
          <p:cNvSpPr>
            <a:spLocks noGrp="1"/>
          </p:cNvSpPr>
          <p:nvPr/>
        </p:nvSpPr>
        <p:spPr>
          <a:xfrm>
            <a:off x="8311896" y="1719072"/>
            <a:ext cx="3429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GOLD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6EF3A6D-75B7-4085-A8D5-1FA054FDFD65}"/>
              </a:ext>
            </a:extLst>
          </p:cNvPr>
          <p:cNvSpPr>
            <a:spLocks noGrp="1"/>
          </p:cNvSpPr>
          <p:nvPr/>
        </p:nvSpPr>
        <p:spPr>
          <a:xfrm>
            <a:off x="8567928" y="256032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200" b="1">
                <a:solidFill>
                  <a:srgbClr val="F29746"/>
                </a:solidFill>
                <a:latin typeface="Aptos"/>
                <a:ea typeface="Aptos"/>
                <a:cs typeface="Aptos"/>
              </a:defRPr>
            </a:pPr>
            <a:r>
              <a:t>BUSINESS READY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EBA0B816-4E83-45AF-9D11-D27D98765D35}"/>
              </a:ext>
            </a:extLst>
          </p:cNvPr>
          <p:cNvSpPr>
            <a:spLocks noGrp="1"/>
          </p:cNvSpPr>
          <p:nvPr/>
        </p:nvSpPr>
        <p:spPr>
          <a:xfrm>
            <a:off x="8631936" y="3063240"/>
            <a:ext cx="2788920" cy="2011680"/>
          </a:xfrm>
          <a:prstGeom prst="roundRect">
            <a:avLst/>
          </a:prstGeom>
          <a:solidFill>
            <a:srgbClr val="FD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4B0F405-BFCA-48E0-9E9C-86DF0B8C446B}"/>
              </a:ext>
            </a:extLst>
          </p:cNvPr>
          <p:cNvSpPr>
            <a:spLocks noGrp="1"/>
          </p:cNvSpPr>
          <p:nvPr/>
        </p:nvSpPr>
        <p:spPr>
          <a:xfrm>
            <a:off x="8842248" y="3337560"/>
            <a:ext cx="23774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4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Sales metrics
Inventory aggregates
Dashboards &amp; analytics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F6DE42D-4F0B-4D8C-B2A4-B6E97C3A8C34}"/>
              </a:ext>
            </a:extLst>
          </p:cNvPr>
          <p:cNvSpPr>
            <a:spLocks noGrp="1"/>
          </p:cNvSpPr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F465B3F-7FA8-4DE4-971B-FBCEF77EAC69}"/>
              </a:ext>
            </a:extLst>
          </p:cNvPr>
          <p:cNvSpPr>
            <a:spLocks noGrp="1"/>
          </p:cNvSpPr>
          <p:nvPr/>
        </p:nvSpPr>
        <p:spPr>
          <a:xfrm>
            <a:off x="594360" y="6574536"/>
            <a:ext cx="5029200" cy="198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70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GROCERY RETAIL ANALYTICS  •  DATA ENGINEERING PROJECT</a:t>
            </a:r>
          </a:p>
        </p:txBody>
      </p:sp>
    </p:spTree>
    <p:extLst>
      <p:ext uri="{BB962C8B-B14F-4D97-AF65-F5344CB8AC3E}">
        <p14:creationId xmlns:p14="http://schemas.microsoft.com/office/powerpoint/2010/main" val="826664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009F37A-AC51-49C8-BCA8-989E668BC37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2328E9-2C51-4CF0-8981-6710A936032D}"/>
              </a:ext>
            </a:extLst>
          </p:cNvPr>
          <p:cNvSpPr>
            <a:spLocks noGrp="1"/>
          </p:cNvSpPr>
          <p:nvPr/>
        </p:nvSpPr>
        <p:spPr>
          <a:xfrm>
            <a:off x="594360" y="256032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000" b="1">
                <a:solidFill>
                  <a:srgbClr val="2677BE"/>
                </a:solidFill>
                <a:latin typeface="Aptos"/>
                <a:ea typeface="Aptos"/>
                <a:cs typeface="Aptos"/>
              </a:defRPr>
            </a:pPr>
            <a:r>
              <a:t>07 • BRONZE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559A35-A113-440B-BA47-DFC6EC06E9C5}"/>
              </a:ext>
            </a:extLst>
          </p:cNvPr>
          <p:cNvSpPr>
            <a:spLocks noGrp="1"/>
          </p:cNvSpPr>
          <p:nvPr/>
        </p:nvSpPr>
        <p:spPr>
          <a:xfrm>
            <a:off x="594360" y="5029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8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Bronze Layer — Raw Data Preservation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B0E9F2-8954-4171-BA09-B7BAA075F0D9}"/>
              </a:ext>
            </a:extLst>
          </p:cNvPr>
          <p:cNvSpPr>
            <a:spLocks noGrp="1"/>
          </p:cNvSpPr>
          <p:nvPr/>
        </p:nvSpPr>
        <p:spPr>
          <a:xfrm>
            <a:off x="594360" y="1078992"/>
            <a:ext cx="914400" cy="54864"/>
          </a:xfrm>
          <a:prstGeom prst="rect">
            <a:avLst/>
          </a:prstGeom>
          <a:solidFill>
            <a:srgbClr val="28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B170EB-AB20-4863-BC42-97914A9BAA0C}"/>
              </a:ext>
            </a:extLst>
          </p:cNvPr>
          <p:cNvSpPr>
            <a:spLocks noGrp="1"/>
          </p:cNvSpPr>
          <p:nvPr/>
        </p:nvSpPr>
        <p:spPr>
          <a:xfrm>
            <a:off x="11064240" y="41148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uNone/>
              <a:defRPr sz="120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08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D6E95F9-CF52-4E0A-95FA-099242061A31}"/>
              </a:ext>
            </a:extLst>
          </p:cNvPr>
          <p:cNvSpPr>
            <a:spLocks noGrp="1"/>
          </p:cNvSpPr>
          <p:nvPr/>
        </p:nvSpPr>
        <p:spPr>
          <a:xfrm>
            <a:off x="640080" y="1417320"/>
            <a:ext cx="33832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E67D66-0FD2-47D4-A25D-E1D750712E4B}"/>
              </a:ext>
            </a:extLst>
          </p:cNvPr>
          <p:cNvSpPr>
            <a:spLocks noGrp="1"/>
          </p:cNvSpPr>
          <p:nvPr/>
        </p:nvSpPr>
        <p:spPr>
          <a:xfrm>
            <a:off x="640080" y="1417320"/>
            <a:ext cx="73152" cy="4297680"/>
          </a:xfrm>
          <a:prstGeom prst="rect">
            <a:avLst/>
          </a:prstGeom>
          <a:solidFill>
            <a:srgbClr val="26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679C6F-EA12-431C-9755-016FC7C3660E}"/>
              </a:ext>
            </a:extLst>
          </p:cNvPr>
          <p:cNvSpPr>
            <a:spLocks noGrp="1"/>
          </p:cNvSpPr>
          <p:nvPr/>
        </p:nvSpPr>
        <p:spPr>
          <a:xfrm>
            <a:off x="841247" y="158191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6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TARGET TABLE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889B25-69A8-408A-8D8B-DDF2A40EC6FF}"/>
              </a:ext>
            </a:extLst>
          </p:cNvPr>
          <p:cNvSpPr>
            <a:spLocks noGrp="1"/>
          </p:cNvSpPr>
          <p:nvPr/>
        </p:nvSpPr>
        <p:spPr>
          <a:xfrm>
            <a:off x="841247" y="1984248"/>
            <a:ext cx="2999232" cy="3584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2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grocery_catalog.raw.transaction_records
Delta table containing raw transaction records after ingestion.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E070207-DB0A-4BF2-8FEB-52CAAADAB020}"/>
              </a:ext>
            </a:extLst>
          </p:cNvPr>
          <p:cNvSpPr>
            <a:spLocks noGrp="1"/>
          </p:cNvSpPr>
          <p:nvPr/>
        </p:nvSpPr>
        <p:spPr>
          <a:xfrm>
            <a:off x="4407408" y="1417320"/>
            <a:ext cx="33832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3D6214C-E673-4EF4-BA7C-8757CC7EC6CA}"/>
              </a:ext>
            </a:extLst>
          </p:cNvPr>
          <p:cNvSpPr>
            <a:spLocks noGrp="1"/>
          </p:cNvSpPr>
          <p:nvPr/>
        </p:nvSpPr>
        <p:spPr>
          <a:xfrm>
            <a:off x="4407408" y="1417320"/>
            <a:ext cx="73152" cy="4297680"/>
          </a:xfrm>
          <a:prstGeom prst="rect">
            <a:avLst/>
          </a:prstGeom>
          <a:solidFill>
            <a:srgbClr val="71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8CF204-BB9A-48DA-9C2C-D5EF8AE66BD3}"/>
              </a:ext>
            </a:extLst>
          </p:cNvPr>
          <p:cNvSpPr>
            <a:spLocks noGrp="1"/>
          </p:cNvSpPr>
          <p:nvPr/>
        </p:nvSpPr>
        <p:spPr>
          <a:xfrm>
            <a:off x="4608576" y="158191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6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IMPLEMENTATION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FA0033-4FA2-434E-A135-C92D9391E208}"/>
              </a:ext>
            </a:extLst>
          </p:cNvPr>
          <p:cNvSpPr>
            <a:spLocks noGrp="1"/>
          </p:cNvSpPr>
          <p:nvPr/>
        </p:nvSpPr>
        <p:spPr>
          <a:xfrm>
            <a:off x="4608576" y="1984248"/>
            <a:ext cx="2999232" cy="3584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2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• Unity Catalog governance</a:t>
            </a:r>
            <a:br/>
            <a:r>
              <a:t>• External location where applicable</a:t>
            </a:r>
            <a:br/>
            <a:r>
              <a:t>• Preserve source structure</a:t>
            </a:r>
            <a:br/>
            <a:r>
              <a:t>• Capture ingestion metadata</a:t>
            </a:r>
            <a:br/>
            <a:r>
              <a:t>• Support reprocessing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E3C134B-E288-4B4D-9582-02024A7C4035}"/>
              </a:ext>
            </a:extLst>
          </p:cNvPr>
          <p:cNvSpPr>
            <a:spLocks noGrp="1"/>
          </p:cNvSpPr>
          <p:nvPr/>
        </p:nvSpPr>
        <p:spPr>
          <a:xfrm>
            <a:off x="8174736" y="1417320"/>
            <a:ext cx="33832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5A21A4B-B9E6-466F-BA35-AEAF1FA0AE75}"/>
              </a:ext>
            </a:extLst>
          </p:cNvPr>
          <p:cNvSpPr>
            <a:spLocks noGrp="1"/>
          </p:cNvSpPr>
          <p:nvPr/>
        </p:nvSpPr>
        <p:spPr>
          <a:xfrm>
            <a:off x="8174736" y="1417320"/>
            <a:ext cx="73152" cy="4297680"/>
          </a:xfrm>
          <a:prstGeom prst="rect">
            <a:avLst/>
          </a:prstGeom>
          <a:solidFill>
            <a:srgbClr val="18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A6E0F4-AB5B-4C91-8501-6608EC1F1A5E}"/>
              </a:ext>
            </a:extLst>
          </p:cNvPr>
          <p:cNvSpPr>
            <a:spLocks noGrp="1"/>
          </p:cNvSpPr>
          <p:nvPr/>
        </p:nvSpPr>
        <p:spPr>
          <a:xfrm>
            <a:off x="8375904" y="158191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6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KEY PRINCIPLE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743226-00BD-48EE-A99F-F010E9AB9E46}"/>
              </a:ext>
            </a:extLst>
          </p:cNvPr>
          <p:cNvSpPr>
            <a:spLocks noGrp="1"/>
          </p:cNvSpPr>
          <p:nvPr/>
        </p:nvSpPr>
        <p:spPr>
          <a:xfrm>
            <a:off x="8375904" y="1984248"/>
            <a:ext cx="2999232" cy="3584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2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Bronze preserves raw retail data for traceability and downstream processing.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331E98A-F764-4E92-B068-42854C0DF7C1}"/>
              </a:ext>
            </a:extLst>
          </p:cNvPr>
          <p:cNvSpPr>
            <a:spLocks noGrp="1"/>
          </p:cNvSpPr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B0754DC-62E9-4555-A80B-AD54868179F6}"/>
              </a:ext>
            </a:extLst>
          </p:cNvPr>
          <p:cNvSpPr>
            <a:spLocks noGrp="1"/>
          </p:cNvSpPr>
          <p:nvPr/>
        </p:nvSpPr>
        <p:spPr>
          <a:xfrm>
            <a:off x="594360" y="6574536"/>
            <a:ext cx="5029200" cy="198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70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GROCERY RETAIL ANALYTICS  •  DATA ENGINEERING PROJECT</a:t>
            </a:r>
          </a:p>
        </p:txBody>
      </p:sp>
    </p:spTree>
    <p:extLst>
      <p:ext uri="{BB962C8B-B14F-4D97-AF65-F5344CB8AC3E}">
        <p14:creationId xmlns:p14="http://schemas.microsoft.com/office/powerpoint/2010/main" val="20897888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50C91C8-C6A4-480C-904C-D46A0BFBC77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63F93A-F553-46F8-96C0-E7AFAE3D0CA5}"/>
              </a:ext>
            </a:extLst>
          </p:cNvPr>
          <p:cNvSpPr>
            <a:spLocks noGrp="1"/>
          </p:cNvSpPr>
          <p:nvPr/>
        </p:nvSpPr>
        <p:spPr>
          <a:xfrm>
            <a:off x="594360" y="256032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000" b="1">
                <a:solidFill>
                  <a:srgbClr val="2677BE"/>
                </a:solidFill>
                <a:latin typeface="Aptos"/>
                <a:ea typeface="Aptos"/>
                <a:cs typeface="Aptos"/>
              </a:defRPr>
            </a:pPr>
            <a:r>
              <a:t>08 • SILVER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A787CD-B8BA-43E3-B7DB-14896F0C2078}"/>
              </a:ext>
            </a:extLst>
          </p:cNvPr>
          <p:cNvSpPr>
            <a:spLocks noGrp="1"/>
          </p:cNvSpPr>
          <p:nvPr/>
        </p:nvSpPr>
        <p:spPr>
          <a:xfrm>
            <a:off x="594360" y="5029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8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Silver Layer — Cleansing &amp; Transformation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1B5B89-E947-47A0-809D-D9A41991E050}"/>
              </a:ext>
            </a:extLst>
          </p:cNvPr>
          <p:cNvSpPr>
            <a:spLocks noGrp="1"/>
          </p:cNvSpPr>
          <p:nvPr/>
        </p:nvSpPr>
        <p:spPr>
          <a:xfrm>
            <a:off x="594360" y="1078992"/>
            <a:ext cx="914400" cy="54864"/>
          </a:xfrm>
          <a:prstGeom prst="rect">
            <a:avLst/>
          </a:prstGeom>
          <a:solidFill>
            <a:srgbClr val="28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F75E32-EF9D-43FD-9A69-65391F721346}"/>
              </a:ext>
            </a:extLst>
          </p:cNvPr>
          <p:cNvSpPr>
            <a:spLocks noGrp="1"/>
          </p:cNvSpPr>
          <p:nvPr/>
        </p:nvSpPr>
        <p:spPr>
          <a:xfrm>
            <a:off x="11064240" y="41148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uNone/>
              <a:defRPr sz="120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09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343A127-5117-468A-B4B2-F6C22BB62DB9}"/>
              </a:ext>
            </a:extLst>
          </p:cNvPr>
          <p:cNvSpPr>
            <a:spLocks noGrp="1"/>
          </p:cNvSpPr>
          <p:nvPr/>
        </p:nvSpPr>
        <p:spPr>
          <a:xfrm>
            <a:off x="1463040" y="1463040"/>
            <a:ext cx="594360" cy="594360"/>
          </a:xfrm>
          <a:prstGeom prst="ellipse">
            <a:avLst/>
          </a:prstGeom>
          <a:solidFill>
            <a:srgbClr val="26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498C4D-854F-416E-969C-E2B876719FAE}"/>
              </a:ext>
            </a:extLst>
          </p:cNvPr>
          <p:cNvSpPr>
            <a:spLocks noGrp="1"/>
          </p:cNvSpPr>
          <p:nvPr/>
        </p:nvSpPr>
        <p:spPr>
          <a:xfrm>
            <a:off x="1463040" y="1472184"/>
            <a:ext cx="59436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47AC21-177F-4EB6-AF1B-B7E63A61ED59}"/>
              </a:ext>
            </a:extLst>
          </p:cNvPr>
          <p:cNvSpPr>
            <a:spLocks noGrp="1"/>
          </p:cNvSpPr>
          <p:nvPr/>
        </p:nvSpPr>
        <p:spPr>
          <a:xfrm>
            <a:off x="640080" y="2212848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300" b="1">
                <a:solidFill>
                  <a:srgbClr val="2677BE"/>
                </a:solidFill>
                <a:latin typeface="Aptos"/>
                <a:ea typeface="Aptos"/>
                <a:cs typeface="Aptos"/>
              </a:defRPr>
            </a:pPr>
            <a:r>
              <a:t>DEDUPLICATE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EF3EC9-9E53-41CF-8153-B916AF7DA604}"/>
              </a:ext>
            </a:extLst>
          </p:cNvPr>
          <p:cNvSpPr>
            <a:spLocks noGrp="1"/>
          </p:cNvSpPr>
          <p:nvPr/>
        </p:nvSpPr>
        <p:spPr>
          <a:xfrm>
            <a:off x="777240" y="2606040"/>
            <a:ext cx="2194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10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Remove duplicate transaction records</a:t>
            </a:r>
          </a:p>
        </p:txBody>
      </p:sp>
      <p:sp>
        <p:nvSpPr>
          <p:cNvPr id="11" name="Connector 10">
            <a:extLst>
              <a:ext uri="{FF2B5EF4-FFF2-40B4-BE49-F238E27FC236}">
                <a16:creationId xmlns:a16="http://schemas.microsoft.com/office/drawing/2014/main" id="{4B8B48A7-46C5-462A-A8ED-619874876F1D}"/>
              </a:ext>
            </a:extLst>
          </p:cNvPr>
          <p:cNvSpPr>
            <a:spLocks noGrp="1"/>
          </p:cNvSpPr>
          <p:nvPr/>
        </p:nvSpPr>
        <p:spPr>
          <a:xfrm>
            <a:off x="3154680" y="1828800"/>
            <a:ext cx="256031" cy="0"/>
          </a:xfrm>
          <a:prstGeom prst="line">
            <a:avLst/>
          </a:prstGeom>
          <a:ln w="31750">
            <a:solidFill>
              <a:srgbClr val="267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32DD6C0-E806-46E0-92C0-B2D9DD7E263D}"/>
              </a:ext>
            </a:extLst>
          </p:cNvPr>
          <p:cNvSpPr>
            <a:spLocks noGrp="1"/>
          </p:cNvSpPr>
          <p:nvPr/>
        </p:nvSpPr>
        <p:spPr>
          <a:xfrm>
            <a:off x="4279392" y="1463040"/>
            <a:ext cx="594360" cy="594360"/>
          </a:xfrm>
          <a:prstGeom prst="ellipse">
            <a:avLst/>
          </a:prstGeom>
          <a:solidFill>
            <a:srgbClr val="18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8E5C69-104A-4C28-9325-9ECF38FC9A76}"/>
              </a:ext>
            </a:extLst>
          </p:cNvPr>
          <p:cNvSpPr>
            <a:spLocks noGrp="1"/>
          </p:cNvSpPr>
          <p:nvPr/>
        </p:nvSpPr>
        <p:spPr>
          <a:xfrm>
            <a:off x="4279392" y="1472184"/>
            <a:ext cx="59436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5A335D-6FBB-4FC7-A3B3-69F5B7801922}"/>
              </a:ext>
            </a:extLst>
          </p:cNvPr>
          <p:cNvSpPr>
            <a:spLocks noGrp="1"/>
          </p:cNvSpPr>
          <p:nvPr/>
        </p:nvSpPr>
        <p:spPr>
          <a:xfrm>
            <a:off x="3456432" y="2212848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300" b="1">
                <a:solidFill>
                  <a:srgbClr val="189D8B"/>
                </a:solidFill>
                <a:latin typeface="Aptos"/>
                <a:ea typeface="Aptos"/>
                <a:cs typeface="Aptos"/>
              </a:defRPr>
            </a:pPr>
            <a:r>
              <a:t>VALIDATE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5D1951-8A3F-4B81-83A1-1822D9AB93A3}"/>
              </a:ext>
            </a:extLst>
          </p:cNvPr>
          <p:cNvSpPr>
            <a:spLocks noGrp="1"/>
          </p:cNvSpPr>
          <p:nvPr/>
        </p:nvSpPr>
        <p:spPr>
          <a:xfrm>
            <a:off x="3593592" y="2606040"/>
            <a:ext cx="2194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10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Check schema and acceptable values</a:t>
            </a:r>
          </a:p>
        </p:txBody>
      </p:sp>
      <p:sp>
        <p:nvSpPr>
          <p:cNvPr id="16" name="Connector 15">
            <a:extLst>
              <a:ext uri="{FF2B5EF4-FFF2-40B4-BE49-F238E27FC236}">
                <a16:creationId xmlns:a16="http://schemas.microsoft.com/office/drawing/2014/main" id="{7E1B605B-F73E-4C94-B523-BD9187B15FA2}"/>
              </a:ext>
            </a:extLst>
          </p:cNvPr>
          <p:cNvSpPr>
            <a:spLocks noGrp="1"/>
          </p:cNvSpPr>
          <p:nvPr/>
        </p:nvSpPr>
        <p:spPr>
          <a:xfrm>
            <a:off x="5971032" y="1828800"/>
            <a:ext cx="256032" cy="0"/>
          </a:xfrm>
          <a:prstGeom prst="line">
            <a:avLst/>
          </a:prstGeom>
          <a:ln w="31750">
            <a:solidFill>
              <a:srgbClr val="189D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1370A90-2660-4792-88F8-8AA941263A58}"/>
              </a:ext>
            </a:extLst>
          </p:cNvPr>
          <p:cNvSpPr>
            <a:spLocks noGrp="1"/>
          </p:cNvSpPr>
          <p:nvPr/>
        </p:nvSpPr>
        <p:spPr>
          <a:xfrm>
            <a:off x="7095744" y="1463040"/>
            <a:ext cx="594360" cy="594360"/>
          </a:xfrm>
          <a:prstGeom prst="ellipse">
            <a:avLst/>
          </a:prstGeom>
          <a:solidFill>
            <a:srgbClr val="71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07A8DC-0FD2-4883-82C1-11AAAF579F70}"/>
              </a:ext>
            </a:extLst>
          </p:cNvPr>
          <p:cNvSpPr>
            <a:spLocks noGrp="1"/>
          </p:cNvSpPr>
          <p:nvPr/>
        </p:nvSpPr>
        <p:spPr>
          <a:xfrm>
            <a:off x="7095744" y="1472184"/>
            <a:ext cx="59436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35BAF27-33AE-427F-92D5-7D30ED7AF986}"/>
              </a:ext>
            </a:extLst>
          </p:cNvPr>
          <p:cNvSpPr>
            <a:spLocks noGrp="1"/>
          </p:cNvSpPr>
          <p:nvPr/>
        </p:nvSpPr>
        <p:spPr>
          <a:xfrm>
            <a:off x="6272784" y="2212848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300" b="1">
                <a:solidFill>
                  <a:srgbClr val="715BBE"/>
                </a:solidFill>
                <a:latin typeface="Aptos"/>
                <a:ea typeface="Aptos"/>
                <a:cs typeface="Aptos"/>
              </a:defRPr>
            </a:pPr>
            <a:r>
              <a:t>STANDARDIZE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27E836-5154-4D00-8EEB-BB29205C51E8}"/>
              </a:ext>
            </a:extLst>
          </p:cNvPr>
          <p:cNvSpPr>
            <a:spLocks noGrp="1"/>
          </p:cNvSpPr>
          <p:nvPr/>
        </p:nvSpPr>
        <p:spPr>
          <a:xfrm>
            <a:off x="6409944" y="2606040"/>
            <a:ext cx="2194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10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Dates, product codes and types</a:t>
            </a:r>
          </a:p>
        </p:txBody>
      </p:sp>
      <p:sp>
        <p:nvSpPr>
          <p:cNvPr id="21" name="Connector 20">
            <a:extLst>
              <a:ext uri="{FF2B5EF4-FFF2-40B4-BE49-F238E27FC236}">
                <a16:creationId xmlns:a16="http://schemas.microsoft.com/office/drawing/2014/main" id="{A3349EB2-6185-4BFB-9ACB-E78DE48E537F}"/>
              </a:ext>
            </a:extLst>
          </p:cNvPr>
          <p:cNvSpPr>
            <a:spLocks noGrp="1"/>
          </p:cNvSpPr>
          <p:nvPr/>
        </p:nvSpPr>
        <p:spPr>
          <a:xfrm>
            <a:off x="8787384" y="1828800"/>
            <a:ext cx="256032" cy="0"/>
          </a:xfrm>
          <a:prstGeom prst="line">
            <a:avLst/>
          </a:prstGeom>
          <a:ln w="31750">
            <a:solidFill>
              <a:srgbClr val="715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0E2AB02-DAA5-4712-B1C7-C13D6CD53711}"/>
              </a:ext>
            </a:extLst>
          </p:cNvPr>
          <p:cNvSpPr>
            <a:spLocks noGrp="1"/>
          </p:cNvSpPr>
          <p:nvPr/>
        </p:nvSpPr>
        <p:spPr>
          <a:xfrm>
            <a:off x="9912096" y="1463040"/>
            <a:ext cx="594360" cy="594360"/>
          </a:xfrm>
          <a:prstGeom prst="ellipse">
            <a:avLst/>
          </a:prstGeom>
          <a:solidFill>
            <a:srgbClr val="F29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8AB697-9A24-44E9-909C-9409372F732F}"/>
              </a:ext>
            </a:extLst>
          </p:cNvPr>
          <p:cNvSpPr>
            <a:spLocks noGrp="1"/>
          </p:cNvSpPr>
          <p:nvPr/>
        </p:nvSpPr>
        <p:spPr>
          <a:xfrm>
            <a:off x="9912096" y="1472184"/>
            <a:ext cx="59436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C89789E-7FFF-4433-B498-392E32903757}"/>
              </a:ext>
            </a:extLst>
          </p:cNvPr>
          <p:cNvSpPr>
            <a:spLocks noGrp="1"/>
          </p:cNvSpPr>
          <p:nvPr/>
        </p:nvSpPr>
        <p:spPr>
          <a:xfrm>
            <a:off x="9089136" y="2212848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300" b="1">
                <a:solidFill>
                  <a:srgbClr val="F29746"/>
                </a:solidFill>
                <a:latin typeface="Aptos"/>
                <a:ea typeface="Aptos"/>
                <a:cs typeface="Aptos"/>
              </a:defRPr>
            </a:pPr>
            <a:r>
              <a:t>ENRICH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4DE9613-6B08-49B2-8A23-D434A0EDC962}"/>
              </a:ext>
            </a:extLst>
          </p:cNvPr>
          <p:cNvSpPr>
            <a:spLocks noGrp="1"/>
          </p:cNvSpPr>
          <p:nvPr/>
        </p:nvSpPr>
        <p:spPr>
          <a:xfrm>
            <a:off x="9226296" y="2606040"/>
            <a:ext cx="2194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10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Join store, product and category dimensions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D2793441-A4F6-4505-945A-6F894BAE7B2C}"/>
              </a:ext>
            </a:extLst>
          </p:cNvPr>
          <p:cNvSpPr>
            <a:spLocks noGrp="1"/>
          </p:cNvSpPr>
          <p:nvPr/>
        </p:nvSpPr>
        <p:spPr>
          <a:xfrm>
            <a:off x="960120" y="3977639"/>
            <a:ext cx="101955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4AE4A23-51C6-4DD8-91DF-E2F58FE3BEB5}"/>
              </a:ext>
            </a:extLst>
          </p:cNvPr>
          <p:cNvSpPr>
            <a:spLocks noGrp="1"/>
          </p:cNvSpPr>
          <p:nvPr/>
        </p:nvSpPr>
        <p:spPr>
          <a:xfrm>
            <a:off x="1188720" y="4187952"/>
            <a:ext cx="9738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10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OUTPUT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76D6548-F4B6-4583-8AEF-95BDF60585BF}"/>
              </a:ext>
            </a:extLst>
          </p:cNvPr>
          <p:cNvSpPr>
            <a:spLocks noGrp="1"/>
          </p:cNvSpPr>
          <p:nvPr/>
        </p:nvSpPr>
        <p:spPr>
          <a:xfrm>
            <a:off x="1188720" y="4498848"/>
            <a:ext cx="9738360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7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grocery_catalog.silver.clean_transactions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3FE9F3B-8499-4DE1-9D49-24C92A7FACDD}"/>
              </a:ext>
            </a:extLst>
          </p:cNvPr>
          <p:cNvSpPr>
            <a:spLocks noGrp="1"/>
          </p:cNvSpPr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D1B197A-CB32-49CD-8552-F26D914CEB30}"/>
              </a:ext>
            </a:extLst>
          </p:cNvPr>
          <p:cNvSpPr>
            <a:spLocks noGrp="1"/>
          </p:cNvSpPr>
          <p:nvPr/>
        </p:nvSpPr>
        <p:spPr>
          <a:xfrm>
            <a:off x="594360" y="6574536"/>
            <a:ext cx="5029200" cy="198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70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GROCERY RETAIL ANALYTICS  •  DATA ENGINEERING PROJECT</a:t>
            </a:r>
          </a:p>
        </p:txBody>
      </p:sp>
    </p:spTree>
    <p:extLst>
      <p:ext uri="{BB962C8B-B14F-4D97-AF65-F5344CB8AC3E}">
        <p14:creationId xmlns:p14="http://schemas.microsoft.com/office/powerpoint/2010/main" val="6144833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E8AFEC5-3F8C-418B-9D91-DA826E1D21F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DD06D7-4C8D-4A9F-97A8-D7CF6454E39C}"/>
              </a:ext>
            </a:extLst>
          </p:cNvPr>
          <p:cNvSpPr>
            <a:spLocks noGrp="1"/>
          </p:cNvSpPr>
          <p:nvPr/>
        </p:nvSpPr>
        <p:spPr>
          <a:xfrm>
            <a:off x="594360" y="256032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000" b="1">
                <a:solidFill>
                  <a:srgbClr val="2677BE"/>
                </a:solidFill>
                <a:latin typeface="Aptos"/>
                <a:ea typeface="Aptos"/>
                <a:cs typeface="Aptos"/>
              </a:defRPr>
            </a:pPr>
            <a:r>
              <a:t>03 • SOURCE &amp; QUALITY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ADBD4C-5F80-427B-B181-A7553FC381E1}"/>
              </a:ext>
            </a:extLst>
          </p:cNvPr>
          <p:cNvSpPr>
            <a:spLocks noGrp="1"/>
          </p:cNvSpPr>
          <p:nvPr/>
        </p:nvSpPr>
        <p:spPr>
          <a:xfrm>
            <a:off x="594360" y="5029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8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Source Dataset &amp; Data Quality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6CFAF8-B04F-4992-A2B9-8DABF63CFC31}"/>
              </a:ext>
            </a:extLst>
          </p:cNvPr>
          <p:cNvSpPr>
            <a:spLocks noGrp="1"/>
          </p:cNvSpPr>
          <p:nvPr/>
        </p:nvSpPr>
        <p:spPr>
          <a:xfrm>
            <a:off x="594360" y="1078992"/>
            <a:ext cx="914400" cy="54864"/>
          </a:xfrm>
          <a:prstGeom prst="rect">
            <a:avLst/>
          </a:prstGeom>
          <a:solidFill>
            <a:srgbClr val="28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127580-1C99-43A5-B3CD-BB1235638F0C}"/>
              </a:ext>
            </a:extLst>
          </p:cNvPr>
          <p:cNvSpPr>
            <a:spLocks noGrp="1"/>
          </p:cNvSpPr>
          <p:nvPr/>
        </p:nvSpPr>
        <p:spPr>
          <a:xfrm>
            <a:off x="11064240" y="41148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uNone/>
              <a:defRPr sz="120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04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3A2F6D7-6C33-47D5-A8F6-8C9A64BBE957}"/>
              </a:ext>
            </a:extLst>
          </p:cNvPr>
          <p:cNvSpPr>
            <a:spLocks noGrp="1"/>
          </p:cNvSpPr>
          <p:nvPr/>
        </p:nvSpPr>
        <p:spPr>
          <a:xfrm>
            <a:off x="640080" y="141732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DC6886-0E4D-4D58-9F91-9610F032634B}"/>
              </a:ext>
            </a:extLst>
          </p:cNvPr>
          <p:cNvSpPr>
            <a:spLocks noGrp="1"/>
          </p:cNvSpPr>
          <p:nvPr/>
        </p:nvSpPr>
        <p:spPr>
          <a:xfrm>
            <a:off x="640080" y="1417320"/>
            <a:ext cx="73152" cy="4389120"/>
          </a:xfrm>
          <a:prstGeom prst="rect">
            <a:avLst/>
          </a:prstGeom>
          <a:solidFill>
            <a:srgbClr val="26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6B6FF4-E967-4CA8-A483-10871E6582C5}"/>
              </a:ext>
            </a:extLst>
          </p:cNvPr>
          <p:cNvSpPr>
            <a:spLocks noGrp="1"/>
          </p:cNvSpPr>
          <p:nvPr/>
        </p:nvSpPr>
        <p:spPr>
          <a:xfrm>
            <a:off x="841247" y="1581912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6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SOURCE DATASET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367053-7F63-4214-88D4-4CB1B46DD688}"/>
              </a:ext>
            </a:extLst>
          </p:cNvPr>
          <p:cNvSpPr>
            <a:spLocks noGrp="1"/>
          </p:cNvSpPr>
          <p:nvPr/>
        </p:nvSpPr>
        <p:spPr>
          <a:xfrm>
            <a:off x="841247" y="1984248"/>
            <a:ext cx="4828032" cy="3675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2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• Sales, stores, products and transaction CSV files
• Product, category, price and quantity attributes
• Daily cloud landing pattern
• Source metadata captured for traceability
• Raw data preserved for reprocessing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F1E356-2A7E-4858-A5A7-DFBC9D501704}"/>
              </a:ext>
            </a:extLst>
          </p:cNvPr>
          <p:cNvSpPr>
            <a:spLocks noGrp="1"/>
          </p:cNvSpPr>
          <p:nvPr/>
        </p:nvSpPr>
        <p:spPr>
          <a:xfrm>
            <a:off x="6217920" y="141732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6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QUALITY CHECKS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D7756E3-556C-47CB-AF34-103831F93F10}"/>
              </a:ext>
            </a:extLst>
          </p:cNvPr>
          <p:cNvSpPr>
            <a:spLocks noGrp="1"/>
          </p:cNvSpPr>
          <p:nvPr/>
        </p:nvSpPr>
        <p:spPr>
          <a:xfrm>
            <a:off x="6236208" y="1874519"/>
            <a:ext cx="347472" cy="347472"/>
          </a:xfrm>
          <a:prstGeom prst="ellipse">
            <a:avLst/>
          </a:prstGeom>
          <a:solidFill>
            <a:srgbClr val="E0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7A93E8-8AD8-4916-9F05-B9A33544497C}"/>
              </a:ext>
            </a:extLst>
          </p:cNvPr>
          <p:cNvSpPr>
            <a:spLocks noGrp="1"/>
          </p:cNvSpPr>
          <p:nvPr/>
        </p:nvSpPr>
        <p:spPr>
          <a:xfrm>
            <a:off x="6236208" y="1883663"/>
            <a:ext cx="34747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✓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2A0E2B-36EF-4E78-B76A-FEB723A7D748}"/>
              </a:ext>
            </a:extLst>
          </p:cNvPr>
          <p:cNvSpPr>
            <a:spLocks noGrp="1"/>
          </p:cNvSpPr>
          <p:nvPr/>
        </p:nvSpPr>
        <p:spPr>
          <a:xfrm>
            <a:off x="6720840" y="1856231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3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Missing / NULL values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3FE86F-C03A-4E6F-8CEB-0ECDE8DD001B}"/>
              </a:ext>
            </a:extLst>
          </p:cNvPr>
          <p:cNvSpPr>
            <a:spLocks noGrp="1"/>
          </p:cNvSpPr>
          <p:nvPr/>
        </p:nvSpPr>
        <p:spPr>
          <a:xfrm>
            <a:off x="9098280" y="1856231"/>
            <a:ext cx="2331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050" b="0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Detect and handle incomplete records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EA2A8AB-94E3-44A0-B54B-E221F754B38B}"/>
              </a:ext>
            </a:extLst>
          </p:cNvPr>
          <p:cNvSpPr>
            <a:spLocks noGrp="1"/>
          </p:cNvSpPr>
          <p:nvPr/>
        </p:nvSpPr>
        <p:spPr>
          <a:xfrm>
            <a:off x="6236208" y="2624327"/>
            <a:ext cx="347472" cy="347472"/>
          </a:xfrm>
          <a:prstGeom prst="ellipse">
            <a:avLst/>
          </a:prstGeom>
          <a:solidFill>
            <a:srgbClr val="F29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96ACB76-4B53-49C9-B493-E14D72AF3AA1}"/>
              </a:ext>
            </a:extLst>
          </p:cNvPr>
          <p:cNvSpPr>
            <a:spLocks noGrp="1"/>
          </p:cNvSpPr>
          <p:nvPr/>
        </p:nvSpPr>
        <p:spPr>
          <a:xfrm>
            <a:off x="6236208" y="2633471"/>
            <a:ext cx="34747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✓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47A53A-D3C1-4A2E-A3B4-225A639EDA4E}"/>
              </a:ext>
            </a:extLst>
          </p:cNvPr>
          <p:cNvSpPr>
            <a:spLocks noGrp="1"/>
          </p:cNvSpPr>
          <p:nvPr/>
        </p:nvSpPr>
        <p:spPr>
          <a:xfrm>
            <a:off x="6720840" y="2606039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3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Duplicates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BE29FBA-50E2-47B1-88E7-53B2CA7EF791}"/>
              </a:ext>
            </a:extLst>
          </p:cNvPr>
          <p:cNvSpPr>
            <a:spLocks noGrp="1"/>
          </p:cNvSpPr>
          <p:nvPr/>
        </p:nvSpPr>
        <p:spPr>
          <a:xfrm>
            <a:off x="9098280" y="2606039"/>
            <a:ext cx="2331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050" b="0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Remove duplicate transaction records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A3A2249-AD7F-43F8-88AE-172D3BB5BB70}"/>
              </a:ext>
            </a:extLst>
          </p:cNvPr>
          <p:cNvSpPr>
            <a:spLocks noGrp="1"/>
          </p:cNvSpPr>
          <p:nvPr/>
        </p:nvSpPr>
        <p:spPr>
          <a:xfrm>
            <a:off x="6236208" y="3374135"/>
            <a:ext cx="347472" cy="347472"/>
          </a:xfrm>
          <a:prstGeom prst="ellipse">
            <a:avLst/>
          </a:prstGeom>
          <a:solidFill>
            <a:srgbClr val="26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5E219F9-02FA-4748-BCA7-BA31793A0344}"/>
              </a:ext>
            </a:extLst>
          </p:cNvPr>
          <p:cNvSpPr>
            <a:spLocks noGrp="1"/>
          </p:cNvSpPr>
          <p:nvPr/>
        </p:nvSpPr>
        <p:spPr>
          <a:xfrm>
            <a:off x="6236208" y="3383279"/>
            <a:ext cx="34747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✓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FFD60C8-EB24-4864-A9EC-9DE60C8FC6BF}"/>
              </a:ext>
            </a:extLst>
          </p:cNvPr>
          <p:cNvSpPr>
            <a:spLocks noGrp="1"/>
          </p:cNvSpPr>
          <p:nvPr/>
        </p:nvSpPr>
        <p:spPr>
          <a:xfrm>
            <a:off x="6720840" y="3355847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3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Schema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AC9DB5C-5FC5-4E51-BE21-2DC8091FC829}"/>
              </a:ext>
            </a:extLst>
          </p:cNvPr>
          <p:cNvSpPr>
            <a:spLocks noGrp="1"/>
          </p:cNvSpPr>
          <p:nvPr/>
        </p:nvSpPr>
        <p:spPr>
          <a:xfrm>
            <a:off x="9098280" y="3355847"/>
            <a:ext cx="2331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050" b="0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Validate columns and data types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1045999-2634-4B47-9222-C06061113520}"/>
              </a:ext>
            </a:extLst>
          </p:cNvPr>
          <p:cNvSpPr>
            <a:spLocks noGrp="1"/>
          </p:cNvSpPr>
          <p:nvPr/>
        </p:nvSpPr>
        <p:spPr>
          <a:xfrm>
            <a:off x="6236208" y="4123944"/>
            <a:ext cx="347472" cy="347472"/>
          </a:xfrm>
          <a:prstGeom prst="ellipse">
            <a:avLst/>
          </a:prstGeom>
          <a:solidFill>
            <a:srgbClr val="18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753E8D0-7109-46A8-8586-3127E0AD5FE0}"/>
              </a:ext>
            </a:extLst>
          </p:cNvPr>
          <p:cNvSpPr>
            <a:spLocks noGrp="1"/>
          </p:cNvSpPr>
          <p:nvPr/>
        </p:nvSpPr>
        <p:spPr>
          <a:xfrm>
            <a:off x="6236208" y="4133087"/>
            <a:ext cx="34747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✓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951A57A-61EE-4CCF-808E-B8A8FD99F4B4}"/>
              </a:ext>
            </a:extLst>
          </p:cNvPr>
          <p:cNvSpPr>
            <a:spLocks noGrp="1"/>
          </p:cNvSpPr>
          <p:nvPr/>
        </p:nvSpPr>
        <p:spPr>
          <a:xfrm>
            <a:off x="6720840" y="4105656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3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Formats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DBD1346-0B5B-4394-A691-7098A97E9087}"/>
              </a:ext>
            </a:extLst>
          </p:cNvPr>
          <p:cNvSpPr>
            <a:spLocks noGrp="1"/>
          </p:cNvSpPr>
          <p:nvPr/>
        </p:nvSpPr>
        <p:spPr>
          <a:xfrm>
            <a:off x="9098280" y="4105656"/>
            <a:ext cx="2331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050" b="0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Standardize dates, categories and store codes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2E428A5-1A80-4D92-805F-E64B6C30840C}"/>
              </a:ext>
            </a:extLst>
          </p:cNvPr>
          <p:cNvSpPr>
            <a:spLocks noGrp="1"/>
          </p:cNvSpPr>
          <p:nvPr/>
        </p:nvSpPr>
        <p:spPr>
          <a:xfrm>
            <a:off x="6236208" y="4873752"/>
            <a:ext cx="347472" cy="347472"/>
          </a:xfrm>
          <a:prstGeom prst="ellipse">
            <a:avLst/>
          </a:prstGeom>
          <a:solidFill>
            <a:srgbClr val="71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55B1E93-2B31-40F8-B9C5-5542D5420FAA}"/>
              </a:ext>
            </a:extLst>
          </p:cNvPr>
          <p:cNvSpPr>
            <a:spLocks noGrp="1"/>
          </p:cNvSpPr>
          <p:nvPr/>
        </p:nvSpPr>
        <p:spPr>
          <a:xfrm>
            <a:off x="6236208" y="4882896"/>
            <a:ext cx="34747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✓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6278548-3E4F-43F0-BFAD-E7E1D59BE15E}"/>
              </a:ext>
            </a:extLst>
          </p:cNvPr>
          <p:cNvSpPr>
            <a:spLocks noGrp="1"/>
          </p:cNvSpPr>
          <p:nvPr/>
        </p:nvSpPr>
        <p:spPr>
          <a:xfrm>
            <a:off x="6720840" y="4855464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3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Malformed rows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D2F975C-3761-496A-8A10-649767F53974}"/>
              </a:ext>
            </a:extLst>
          </p:cNvPr>
          <p:cNvSpPr>
            <a:spLocks noGrp="1"/>
          </p:cNvSpPr>
          <p:nvPr/>
        </p:nvSpPr>
        <p:spPr>
          <a:xfrm>
            <a:off x="9098280" y="4855464"/>
            <a:ext cx="2331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050" b="0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Isolate invalid input records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C025C65-0B75-4573-861D-75600AC3897C}"/>
              </a:ext>
            </a:extLst>
          </p:cNvPr>
          <p:cNvSpPr>
            <a:spLocks noGrp="1"/>
          </p:cNvSpPr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E730A2A-C21C-4CE3-A24A-CA634CCC4C7B}"/>
              </a:ext>
            </a:extLst>
          </p:cNvPr>
          <p:cNvSpPr>
            <a:spLocks noGrp="1"/>
          </p:cNvSpPr>
          <p:nvPr/>
        </p:nvSpPr>
        <p:spPr>
          <a:xfrm>
            <a:off x="594360" y="6574536"/>
            <a:ext cx="5029200" cy="198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70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GROCERY RETAIL ANALYTICS  •  DATA ENGINEERING PROJECT</a:t>
            </a:r>
          </a:p>
        </p:txBody>
      </p:sp>
    </p:spTree>
    <p:extLst>
      <p:ext uri="{BB962C8B-B14F-4D97-AF65-F5344CB8AC3E}">
        <p14:creationId xmlns:p14="http://schemas.microsoft.com/office/powerpoint/2010/main" val="1902336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62557DE-9BDD-4524-B87D-0922C6FE460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744912-52F5-4E2D-960A-A7F11CE231A3}"/>
              </a:ext>
            </a:extLst>
          </p:cNvPr>
          <p:cNvSpPr>
            <a:spLocks noGrp="1"/>
          </p:cNvSpPr>
          <p:nvPr/>
        </p:nvSpPr>
        <p:spPr>
          <a:xfrm>
            <a:off x="594360" y="256032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000" b="1">
                <a:solidFill>
                  <a:srgbClr val="2677BE"/>
                </a:solidFill>
                <a:latin typeface="Aptos"/>
                <a:ea typeface="Aptos"/>
                <a:cs typeface="Aptos"/>
              </a:defRPr>
            </a:pPr>
            <a:r>
              <a:t>09 • GOLD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E4162E-27FB-43C0-88D3-04DC9CE27680}"/>
              </a:ext>
            </a:extLst>
          </p:cNvPr>
          <p:cNvSpPr>
            <a:spLocks noGrp="1"/>
          </p:cNvSpPr>
          <p:nvPr/>
        </p:nvSpPr>
        <p:spPr>
          <a:xfrm>
            <a:off x="594360" y="502920"/>
            <a:ext cx="10515600" cy="518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8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Gold Layer — Retail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0DEABD-C97D-46D4-9916-6ACD37ED070B}"/>
              </a:ext>
            </a:extLst>
          </p:cNvPr>
          <p:cNvSpPr>
            <a:spLocks noGrp="1"/>
          </p:cNvSpPr>
          <p:nvPr/>
        </p:nvSpPr>
        <p:spPr>
          <a:xfrm>
            <a:off x="594360" y="1078992"/>
            <a:ext cx="914400" cy="54864"/>
          </a:xfrm>
          <a:prstGeom prst="rect">
            <a:avLst/>
          </a:prstGeom>
          <a:solidFill>
            <a:srgbClr val="28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805475-D75E-46CA-8DD4-4D0B18DB29B3}"/>
              </a:ext>
            </a:extLst>
          </p:cNvPr>
          <p:cNvSpPr>
            <a:spLocks noGrp="1"/>
          </p:cNvSpPr>
          <p:nvPr/>
        </p:nvSpPr>
        <p:spPr>
          <a:xfrm>
            <a:off x="11064240" y="41148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uNone/>
              <a:defRPr sz="120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10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6E5FCA1-B8AD-460F-95F6-F0E5244F5A45}"/>
              </a:ext>
            </a:extLst>
          </p:cNvPr>
          <p:cNvSpPr>
            <a:spLocks noGrp="1"/>
          </p:cNvSpPr>
          <p:nvPr/>
        </p:nvSpPr>
        <p:spPr>
          <a:xfrm>
            <a:off x="640080" y="1463040"/>
            <a:ext cx="24688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60292D8-0BFA-41A8-B6B1-F5525389E59D}"/>
              </a:ext>
            </a:extLst>
          </p:cNvPr>
          <p:cNvSpPr>
            <a:spLocks noGrp="1"/>
          </p:cNvSpPr>
          <p:nvPr/>
        </p:nvSpPr>
        <p:spPr>
          <a:xfrm>
            <a:off x="1536192" y="1664208"/>
            <a:ext cx="502920" cy="502920"/>
          </a:xfrm>
          <a:prstGeom prst="ellipse">
            <a:avLst/>
          </a:prstGeom>
          <a:solidFill>
            <a:srgbClr val="E0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B845E8-A5CE-4E67-8147-2D20EF4338D2}"/>
              </a:ext>
            </a:extLst>
          </p:cNvPr>
          <p:cNvSpPr>
            <a:spLocks noGrp="1"/>
          </p:cNvSpPr>
          <p:nvPr/>
        </p:nvSpPr>
        <p:spPr>
          <a:xfrm>
            <a:off x="1536192" y="1673352"/>
            <a:ext cx="50292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+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11FE42-7F23-4BF6-B245-BA85E2062EC3}"/>
              </a:ext>
            </a:extLst>
          </p:cNvPr>
          <p:cNvSpPr>
            <a:spLocks noGrp="1"/>
          </p:cNvSpPr>
          <p:nvPr/>
        </p:nvSpPr>
        <p:spPr>
          <a:xfrm>
            <a:off x="777240" y="2304288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300" b="1">
                <a:solidFill>
                  <a:srgbClr val="E05B5B"/>
                </a:solidFill>
                <a:latin typeface="Aptos"/>
                <a:ea typeface="Aptos"/>
                <a:cs typeface="Aptos"/>
              </a:defRPr>
            </a:pPr>
            <a:r>
              <a:t>RISK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D0B87C-4AB9-4064-99C3-2750433F7106}"/>
              </a:ext>
            </a:extLst>
          </p:cNvPr>
          <p:cNvSpPr>
            <a:spLocks noGrp="1"/>
          </p:cNvSpPr>
          <p:nvPr/>
        </p:nvSpPr>
        <p:spPr>
          <a:xfrm>
            <a:off x="822959" y="265176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0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Sales performance metrics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25B0FB3-5CF9-459C-B155-1AAC7F423740}"/>
              </a:ext>
            </a:extLst>
          </p:cNvPr>
          <p:cNvSpPr>
            <a:spLocks noGrp="1"/>
          </p:cNvSpPr>
          <p:nvPr/>
        </p:nvSpPr>
        <p:spPr>
          <a:xfrm>
            <a:off x="3456432" y="1463040"/>
            <a:ext cx="24688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AE228E7-A620-464D-8006-44FF322CA4E3}"/>
              </a:ext>
            </a:extLst>
          </p:cNvPr>
          <p:cNvSpPr>
            <a:spLocks noGrp="1"/>
          </p:cNvSpPr>
          <p:nvPr/>
        </p:nvSpPr>
        <p:spPr>
          <a:xfrm>
            <a:off x="4352544" y="1664208"/>
            <a:ext cx="502920" cy="502920"/>
          </a:xfrm>
          <a:prstGeom prst="ellipse">
            <a:avLst/>
          </a:prstGeom>
          <a:solidFill>
            <a:srgbClr val="26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F5E714-5E40-4AC0-AEB2-5B714A93544C}"/>
              </a:ext>
            </a:extLst>
          </p:cNvPr>
          <p:cNvSpPr>
            <a:spLocks noGrp="1"/>
          </p:cNvSpPr>
          <p:nvPr/>
        </p:nvSpPr>
        <p:spPr>
          <a:xfrm>
            <a:off x="4352544" y="1673352"/>
            <a:ext cx="50292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+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A083EE-3746-41F9-BBEF-591E266345C3}"/>
              </a:ext>
            </a:extLst>
          </p:cNvPr>
          <p:cNvSpPr>
            <a:spLocks noGrp="1"/>
          </p:cNvSpPr>
          <p:nvPr/>
        </p:nvSpPr>
        <p:spPr>
          <a:xfrm>
            <a:off x="3593592" y="2304288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300" b="1">
                <a:solidFill>
                  <a:srgbClr val="2677BE"/>
                </a:solidFill>
                <a:latin typeface="Aptos"/>
                <a:ea typeface="Aptos"/>
                <a:cs typeface="Aptos"/>
              </a:defRPr>
            </a:pPr>
            <a:r>
              <a:t>TRENDS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063572-0CED-4FAC-B35E-32129CA3A969}"/>
              </a:ext>
            </a:extLst>
          </p:cNvPr>
          <p:cNvSpPr>
            <a:spLocks noGrp="1"/>
          </p:cNvSpPr>
          <p:nvPr/>
        </p:nvSpPr>
        <p:spPr>
          <a:xfrm>
            <a:off x="3639312" y="265176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0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Population / health trends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7004F72-82A1-423B-95C2-F230B36D629E}"/>
              </a:ext>
            </a:extLst>
          </p:cNvPr>
          <p:cNvSpPr>
            <a:spLocks noGrp="1"/>
          </p:cNvSpPr>
          <p:nvPr/>
        </p:nvSpPr>
        <p:spPr>
          <a:xfrm>
            <a:off x="6272784" y="1463040"/>
            <a:ext cx="24688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04CB6D6-5ADC-4695-8266-F78BD5870FA0}"/>
              </a:ext>
            </a:extLst>
          </p:cNvPr>
          <p:cNvSpPr>
            <a:spLocks noGrp="1"/>
          </p:cNvSpPr>
          <p:nvPr/>
        </p:nvSpPr>
        <p:spPr>
          <a:xfrm>
            <a:off x="7168896" y="1664208"/>
            <a:ext cx="502920" cy="502920"/>
          </a:xfrm>
          <a:prstGeom prst="ellipse">
            <a:avLst/>
          </a:prstGeom>
          <a:solidFill>
            <a:srgbClr val="18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8D1382F-B728-4D00-9054-EC1BDD501295}"/>
              </a:ext>
            </a:extLst>
          </p:cNvPr>
          <p:cNvSpPr>
            <a:spLocks noGrp="1"/>
          </p:cNvSpPr>
          <p:nvPr/>
        </p:nvSpPr>
        <p:spPr>
          <a:xfrm>
            <a:off x="7168896" y="1673352"/>
            <a:ext cx="50292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+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C4F297C-9133-4F04-8140-21BBCBF4E251}"/>
              </a:ext>
            </a:extLst>
          </p:cNvPr>
          <p:cNvSpPr>
            <a:spLocks noGrp="1"/>
          </p:cNvSpPr>
          <p:nvPr/>
        </p:nvSpPr>
        <p:spPr>
          <a:xfrm>
            <a:off x="6409944" y="2304288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300" b="1">
                <a:solidFill>
                  <a:srgbClr val="189D8B"/>
                </a:solidFill>
                <a:latin typeface="Aptos"/>
                <a:ea typeface="Aptos"/>
                <a:cs typeface="Aptos"/>
              </a:defRPr>
            </a:pPr>
            <a:r>
              <a:t>QUALITY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E8EBB4-41EF-460A-B9F5-4854D08AF476}"/>
              </a:ext>
            </a:extLst>
          </p:cNvPr>
          <p:cNvSpPr>
            <a:spLocks noGrp="1"/>
          </p:cNvSpPr>
          <p:nvPr/>
        </p:nvSpPr>
        <p:spPr>
          <a:xfrm>
            <a:off x="6455664" y="265176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0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Validated analytical outputs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DB0EF87F-48EE-4AC2-AD60-03815352E6D8}"/>
              </a:ext>
            </a:extLst>
          </p:cNvPr>
          <p:cNvSpPr>
            <a:spLocks noGrp="1"/>
          </p:cNvSpPr>
          <p:nvPr/>
        </p:nvSpPr>
        <p:spPr>
          <a:xfrm>
            <a:off x="9089136" y="1463040"/>
            <a:ext cx="24688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AB06D03-5117-42CF-B64C-A6AFE8E80601}"/>
              </a:ext>
            </a:extLst>
          </p:cNvPr>
          <p:cNvSpPr>
            <a:spLocks noGrp="1"/>
          </p:cNvSpPr>
          <p:nvPr/>
        </p:nvSpPr>
        <p:spPr>
          <a:xfrm>
            <a:off x="9985248" y="1664208"/>
            <a:ext cx="502920" cy="502920"/>
          </a:xfrm>
          <a:prstGeom prst="ellipse">
            <a:avLst/>
          </a:prstGeom>
          <a:solidFill>
            <a:srgbClr val="71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2CA2DA9-FD41-4B86-BF04-A08981922B8F}"/>
              </a:ext>
            </a:extLst>
          </p:cNvPr>
          <p:cNvSpPr>
            <a:spLocks noGrp="1"/>
          </p:cNvSpPr>
          <p:nvPr/>
        </p:nvSpPr>
        <p:spPr>
          <a:xfrm>
            <a:off x="9985248" y="1673352"/>
            <a:ext cx="502920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+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68DE558-0155-44B2-A9EE-1722F2D76430}"/>
              </a:ext>
            </a:extLst>
          </p:cNvPr>
          <p:cNvSpPr>
            <a:spLocks noGrp="1"/>
          </p:cNvSpPr>
          <p:nvPr/>
        </p:nvSpPr>
        <p:spPr>
          <a:xfrm>
            <a:off x="9226296" y="2304288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300" b="1">
                <a:solidFill>
                  <a:srgbClr val="715BBE"/>
                </a:solidFill>
                <a:latin typeface="Aptos"/>
                <a:ea typeface="Aptos"/>
                <a:cs typeface="Aptos"/>
              </a:defRPr>
            </a:pPr>
            <a:r>
              <a:t>DASHBOARD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850E7DA-519E-42BE-83AB-6C9CC2C5F310}"/>
              </a:ext>
            </a:extLst>
          </p:cNvPr>
          <p:cNvSpPr>
            <a:spLocks noGrp="1"/>
          </p:cNvSpPr>
          <p:nvPr/>
        </p:nvSpPr>
        <p:spPr>
          <a:xfrm>
            <a:off x="9272015" y="265176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0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Consumption-ready tables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EAFC5587-A2B9-4790-8298-0EA8EC9BF763}"/>
              </a:ext>
            </a:extLst>
          </p:cNvPr>
          <p:cNvSpPr>
            <a:spLocks noGrp="1"/>
          </p:cNvSpPr>
          <p:nvPr/>
        </p:nvSpPr>
        <p:spPr>
          <a:xfrm>
            <a:off x="822960" y="3886200"/>
            <a:ext cx="10561320" cy="1234440"/>
          </a:xfrm>
          <a:prstGeom prst="roundRect">
            <a:avLst/>
          </a:prstGeom>
          <a:solidFill>
            <a:srgbClr val="0E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D284E51-3E7B-43B5-9F24-35E26988F573}"/>
              </a:ext>
            </a:extLst>
          </p:cNvPr>
          <p:cNvSpPr>
            <a:spLocks noGrp="1"/>
          </p:cNvSpPr>
          <p:nvPr/>
        </p:nvSpPr>
        <p:spPr>
          <a:xfrm>
            <a:off x="1097280" y="4133087"/>
            <a:ext cx="10012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000" b="1">
                <a:solidFill>
                  <a:srgbClr val="28BEC9"/>
                </a:solidFill>
                <a:latin typeface="Aptos"/>
                <a:ea typeface="Aptos"/>
                <a:cs typeface="Aptos"/>
              </a:defRPr>
            </a:pPr>
            <a:r>
              <a:t>TARGET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52C1170-027F-4417-9728-9BE4C1D22102}"/>
              </a:ext>
            </a:extLst>
          </p:cNvPr>
          <p:cNvSpPr>
            <a:spLocks noGrp="1"/>
          </p:cNvSpPr>
          <p:nvPr/>
        </p:nvSpPr>
        <p:spPr>
          <a:xfrm>
            <a:off x="1097280" y="4480560"/>
            <a:ext cx="10012680" cy="39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grocery_catalog.gold.sales_metrics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1CB3651-1636-4B93-AEAB-0BE3CD0E4369}"/>
              </a:ext>
            </a:extLst>
          </p:cNvPr>
          <p:cNvSpPr>
            <a:spLocks noGrp="1"/>
          </p:cNvSpPr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250C43A-195F-42EE-9017-06EB0A4A2C16}"/>
              </a:ext>
            </a:extLst>
          </p:cNvPr>
          <p:cNvSpPr>
            <a:spLocks noGrp="1"/>
          </p:cNvSpPr>
          <p:nvPr/>
        </p:nvSpPr>
        <p:spPr>
          <a:xfrm>
            <a:off x="594360" y="6574536"/>
            <a:ext cx="5029200" cy="198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70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GROCERY RETAIL ANALYTICS  •  DATA ENGINEERING PROJECT</a:t>
            </a:r>
          </a:p>
        </p:txBody>
      </p:sp>
    </p:spTree>
    <p:extLst>
      <p:ext uri="{BB962C8B-B14F-4D97-AF65-F5344CB8AC3E}">
        <p14:creationId xmlns:p14="http://schemas.microsoft.com/office/powerpoint/2010/main" val="5678827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53707-590E-1046-36B8-33202FA41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5638800" cy="550862"/>
          </a:xfrm>
        </p:spPr>
        <p:txBody>
          <a:bodyPr>
            <a:normAutofit fontScale="90000"/>
          </a:bodyPr>
          <a:lstStyle/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54554D-9EFB-5875-A305-A22A5F380C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481" y="825500"/>
            <a:ext cx="11599038" cy="554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9783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90EADC3-1F6F-4FE3-BE56-67751BEE4BA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34BA84-7835-4DA5-BD13-5D4FD3A3CAC4}"/>
              </a:ext>
            </a:extLst>
          </p:cNvPr>
          <p:cNvSpPr>
            <a:spLocks noGrp="1"/>
          </p:cNvSpPr>
          <p:nvPr/>
        </p:nvSpPr>
        <p:spPr>
          <a:xfrm>
            <a:off x="594360" y="256032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000" b="1">
                <a:solidFill>
                  <a:srgbClr val="2677BE"/>
                </a:solidFill>
                <a:latin typeface="Aptos"/>
                <a:ea typeface="Aptos"/>
                <a:cs typeface="Aptos"/>
              </a:defRPr>
            </a:pPr>
            <a:r>
              <a:t>14 • TESTING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41B00A-12F2-4136-8DCE-58606D46B4B9}"/>
              </a:ext>
            </a:extLst>
          </p:cNvPr>
          <p:cNvSpPr>
            <a:spLocks noGrp="1"/>
          </p:cNvSpPr>
          <p:nvPr/>
        </p:nvSpPr>
        <p:spPr>
          <a:xfrm>
            <a:off x="594360" y="5029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8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PyTest &amp; Data Validation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54037C-F1EB-4002-874F-E7E9F34123D7}"/>
              </a:ext>
            </a:extLst>
          </p:cNvPr>
          <p:cNvSpPr>
            <a:spLocks noGrp="1"/>
          </p:cNvSpPr>
          <p:nvPr/>
        </p:nvSpPr>
        <p:spPr>
          <a:xfrm>
            <a:off x="594360" y="1078992"/>
            <a:ext cx="914400" cy="54864"/>
          </a:xfrm>
          <a:prstGeom prst="rect">
            <a:avLst/>
          </a:prstGeom>
          <a:solidFill>
            <a:srgbClr val="28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767FEB-7B8A-40FA-841D-659625C6C4CF}"/>
              </a:ext>
            </a:extLst>
          </p:cNvPr>
          <p:cNvSpPr>
            <a:spLocks noGrp="1"/>
          </p:cNvSpPr>
          <p:nvPr/>
        </p:nvSpPr>
        <p:spPr>
          <a:xfrm>
            <a:off x="11064240" y="41148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uNone/>
              <a:defRPr sz="120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15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DBF077F-87B4-4DD2-9B11-717380E0B259}"/>
              </a:ext>
            </a:extLst>
          </p:cNvPr>
          <p:cNvSpPr>
            <a:spLocks noGrp="1"/>
          </p:cNvSpPr>
          <p:nvPr/>
        </p:nvSpPr>
        <p:spPr>
          <a:xfrm>
            <a:off x="1252728" y="1463040"/>
            <a:ext cx="658368" cy="658368"/>
          </a:xfrm>
          <a:prstGeom prst="ellipse">
            <a:avLst/>
          </a:prstGeom>
          <a:solidFill>
            <a:srgbClr val="26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EE17D7-5BBF-44E4-A733-5D54DE3B7D2B}"/>
              </a:ext>
            </a:extLst>
          </p:cNvPr>
          <p:cNvSpPr>
            <a:spLocks noGrp="1"/>
          </p:cNvSpPr>
          <p:nvPr/>
        </p:nvSpPr>
        <p:spPr>
          <a:xfrm>
            <a:off x="1252728" y="1472184"/>
            <a:ext cx="65836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✓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D60E3A-CC63-4DD7-8B89-9F847E275D80}"/>
              </a:ext>
            </a:extLst>
          </p:cNvPr>
          <p:cNvSpPr>
            <a:spLocks noGrp="1"/>
          </p:cNvSpPr>
          <p:nvPr/>
        </p:nvSpPr>
        <p:spPr>
          <a:xfrm>
            <a:off x="594360" y="2331720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250" b="1">
                <a:solidFill>
                  <a:srgbClr val="2677BE"/>
                </a:solidFill>
                <a:latin typeface="Aptos"/>
                <a:ea typeface="Aptos"/>
                <a:cs typeface="Aptos"/>
              </a:defRPr>
            </a:pPr>
            <a:r>
              <a:t>TABLES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72F908-8409-4571-9B4E-247B099BC65D}"/>
              </a:ext>
            </a:extLst>
          </p:cNvPr>
          <p:cNvSpPr>
            <a:spLocks noGrp="1"/>
          </p:cNvSpPr>
          <p:nvPr/>
        </p:nvSpPr>
        <p:spPr>
          <a:xfrm>
            <a:off x="640080" y="274320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0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Required tables created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4EE3FB2-A311-4507-9727-900A4B4B60DA}"/>
              </a:ext>
            </a:extLst>
          </p:cNvPr>
          <p:cNvSpPr>
            <a:spLocks noGrp="1"/>
          </p:cNvSpPr>
          <p:nvPr/>
        </p:nvSpPr>
        <p:spPr>
          <a:xfrm>
            <a:off x="3493008" y="1463040"/>
            <a:ext cx="658368" cy="658368"/>
          </a:xfrm>
          <a:prstGeom prst="ellipse">
            <a:avLst/>
          </a:prstGeom>
          <a:solidFill>
            <a:srgbClr val="18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0B61FB-1620-4D63-97C9-2AE68AECBA36}"/>
              </a:ext>
            </a:extLst>
          </p:cNvPr>
          <p:cNvSpPr>
            <a:spLocks noGrp="1"/>
          </p:cNvSpPr>
          <p:nvPr/>
        </p:nvSpPr>
        <p:spPr>
          <a:xfrm>
            <a:off x="3493008" y="1472184"/>
            <a:ext cx="65836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✓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1DEE77-7E8E-433F-A71A-08A551625041}"/>
              </a:ext>
            </a:extLst>
          </p:cNvPr>
          <p:cNvSpPr>
            <a:spLocks noGrp="1"/>
          </p:cNvSpPr>
          <p:nvPr/>
        </p:nvSpPr>
        <p:spPr>
          <a:xfrm>
            <a:off x="2834640" y="2331720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250" b="1">
                <a:solidFill>
                  <a:srgbClr val="189D8B"/>
                </a:solidFill>
                <a:latin typeface="Aptos"/>
                <a:ea typeface="Aptos"/>
                <a:cs typeface="Aptos"/>
              </a:defRPr>
            </a:pPr>
            <a:r>
              <a:t>COUNTS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4CB4B7-F09D-4A98-AD89-E33B9A3AAC05}"/>
              </a:ext>
            </a:extLst>
          </p:cNvPr>
          <p:cNvSpPr>
            <a:spLocks noGrp="1"/>
          </p:cNvSpPr>
          <p:nvPr/>
        </p:nvSpPr>
        <p:spPr>
          <a:xfrm>
            <a:off x="2880360" y="274320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0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Outputs are non-empty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D91CFB7-83C2-488D-9485-BD3D987C1F81}"/>
              </a:ext>
            </a:extLst>
          </p:cNvPr>
          <p:cNvSpPr>
            <a:spLocks noGrp="1"/>
          </p:cNvSpPr>
          <p:nvPr/>
        </p:nvSpPr>
        <p:spPr>
          <a:xfrm>
            <a:off x="5733288" y="1463040"/>
            <a:ext cx="658368" cy="658368"/>
          </a:xfrm>
          <a:prstGeom prst="ellipse">
            <a:avLst/>
          </a:prstGeom>
          <a:solidFill>
            <a:srgbClr val="71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28498BE-794B-4821-981A-2FCBD001EC68}"/>
              </a:ext>
            </a:extLst>
          </p:cNvPr>
          <p:cNvSpPr>
            <a:spLocks noGrp="1"/>
          </p:cNvSpPr>
          <p:nvPr/>
        </p:nvSpPr>
        <p:spPr>
          <a:xfrm>
            <a:off x="5733288" y="1472184"/>
            <a:ext cx="65836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✓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5DA8A5-6ADA-4EA2-8ECF-9D07237B7E0D}"/>
              </a:ext>
            </a:extLst>
          </p:cNvPr>
          <p:cNvSpPr>
            <a:spLocks noGrp="1"/>
          </p:cNvSpPr>
          <p:nvPr/>
        </p:nvSpPr>
        <p:spPr>
          <a:xfrm>
            <a:off x="5074920" y="2331720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250" b="1">
                <a:solidFill>
                  <a:srgbClr val="715BBE"/>
                </a:solidFill>
                <a:latin typeface="Aptos"/>
                <a:ea typeface="Aptos"/>
                <a:cs typeface="Aptos"/>
              </a:defRPr>
            </a:pPr>
            <a:r>
              <a:t>SCHEMA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8AD96E9-E51E-43A4-9B5F-D4E4E06F0A9F}"/>
              </a:ext>
            </a:extLst>
          </p:cNvPr>
          <p:cNvSpPr>
            <a:spLocks noGrp="1"/>
          </p:cNvSpPr>
          <p:nvPr/>
        </p:nvSpPr>
        <p:spPr>
          <a:xfrm>
            <a:off x="5120640" y="274320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0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Columns &amp; types validated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A354DF5-4A76-4B5E-99F5-CE805941902A}"/>
              </a:ext>
            </a:extLst>
          </p:cNvPr>
          <p:cNvSpPr>
            <a:spLocks noGrp="1"/>
          </p:cNvSpPr>
          <p:nvPr/>
        </p:nvSpPr>
        <p:spPr>
          <a:xfrm>
            <a:off x="7973568" y="1463040"/>
            <a:ext cx="658368" cy="658368"/>
          </a:xfrm>
          <a:prstGeom prst="ellipse">
            <a:avLst/>
          </a:prstGeom>
          <a:solidFill>
            <a:srgbClr val="F29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D0E10F8-370F-49F9-9FAC-5BBE6B1BBF4B}"/>
              </a:ext>
            </a:extLst>
          </p:cNvPr>
          <p:cNvSpPr>
            <a:spLocks noGrp="1"/>
          </p:cNvSpPr>
          <p:nvPr/>
        </p:nvSpPr>
        <p:spPr>
          <a:xfrm>
            <a:off x="7973568" y="1472184"/>
            <a:ext cx="65836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✓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EA11F6-0425-4643-8215-DA570B8A5687}"/>
              </a:ext>
            </a:extLst>
          </p:cNvPr>
          <p:cNvSpPr>
            <a:spLocks noGrp="1"/>
          </p:cNvSpPr>
          <p:nvPr/>
        </p:nvSpPr>
        <p:spPr>
          <a:xfrm>
            <a:off x="7315200" y="2331720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250" b="1">
                <a:solidFill>
                  <a:srgbClr val="F29746"/>
                </a:solidFill>
                <a:latin typeface="Aptos"/>
                <a:ea typeface="Aptos"/>
                <a:cs typeface="Aptos"/>
              </a:defRPr>
            </a:pPr>
            <a:r>
              <a:t>DUPLICATES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ABB515-5C54-4FD2-B7FF-75A2810C48EB}"/>
              </a:ext>
            </a:extLst>
          </p:cNvPr>
          <p:cNvSpPr>
            <a:spLocks noGrp="1"/>
          </p:cNvSpPr>
          <p:nvPr/>
        </p:nvSpPr>
        <p:spPr>
          <a:xfrm>
            <a:off x="7360920" y="274320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0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Duplicate detection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DC65EC6-F1E9-4057-90F7-B6D8E7278A00}"/>
              </a:ext>
            </a:extLst>
          </p:cNvPr>
          <p:cNvSpPr>
            <a:spLocks noGrp="1"/>
          </p:cNvSpPr>
          <p:nvPr/>
        </p:nvSpPr>
        <p:spPr>
          <a:xfrm>
            <a:off x="10213848" y="1463040"/>
            <a:ext cx="658368" cy="658368"/>
          </a:xfrm>
          <a:prstGeom prst="ellipse">
            <a:avLst/>
          </a:prstGeom>
          <a:solidFill>
            <a:srgbClr val="E0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11E4A75-F97C-4D27-A3BC-164ED0FC864B}"/>
              </a:ext>
            </a:extLst>
          </p:cNvPr>
          <p:cNvSpPr>
            <a:spLocks noGrp="1"/>
          </p:cNvSpPr>
          <p:nvPr/>
        </p:nvSpPr>
        <p:spPr>
          <a:xfrm>
            <a:off x="10213848" y="1472184"/>
            <a:ext cx="65836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✓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E94573D-EDBE-419C-875F-D828F9A2770C}"/>
              </a:ext>
            </a:extLst>
          </p:cNvPr>
          <p:cNvSpPr>
            <a:spLocks noGrp="1"/>
          </p:cNvSpPr>
          <p:nvPr/>
        </p:nvSpPr>
        <p:spPr>
          <a:xfrm>
            <a:off x="9555480" y="2331720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250" b="1">
                <a:solidFill>
                  <a:srgbClr val="E05B5B"/>
                </a:solidFill>
                <a:latin typeface="Aptos"/>
                <a:ea typeface="Aptos"/>
                <a:cs typeface="Aptos"/>
              </a:defRPr>
            </a:pPr>
            <a:r>
              <a:t>VALUES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66F92FE-7EC5-4710-91DF-71D65FCC507E}"/>
              </a:ext>
            </a:extLst>
          </p:cNvPr>
          <p:cNvSpPr>
            <a:spLocks noGrp="1"/>
          </p:cNvSpPr>
          <p:nvPr/>
        </p:nvSpPr>
        <p:spPr>
          <a:xfrm>
            <a:off x="9601200" y="274320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0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Invalid values filtered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F1E5FF5B-25E1-4561-AD0A-EE9DE320FAA1}"/>
              </a:ext>
            </a:extLst>
          </p:cNvPr>
          <p:cNvSpPr>
            <a:spLocks noGrp="1"/>
          </p:cNvSpPr>
          <p:nvPr/>
        </p:nvSpPr>
        <p:spPr>
          <a:xfrm>
            <a:off x="1828800" y="3886200"/>
            <a:ext cx="8503920" cy="1005840"/>
          </a:xfrm>
          <a:prstGeom prst="roundRect">
            <a:avLst/>
          </a:prstGeom>
          <a:solidFill>
            <a:srgbClr val="0E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ED431BE-2BFA-45FA-B543-7579B1932817}"/>
              </a:ext>
            </a:extLst>
          </p:cNvPr>
          <p:cNvSpPr>
            <a:spLocks noGrp="1"/>
          </p:cNvSpPr>
          <p:nvPr/>
        </p:nvSpPr>
        <p:spPr>
          <a:xfrm>
            <a:off x="1828800" y="4133087"/>
            <a:ext cx="8503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100" b="1">
                <a:solidFill>
                  <a:srgbClr val="28BEC9"/>
                </a:solidFill>
                <a:latin typeface="Aptos"/>
                <a:ea typeface="Aptos"/>
                <a:cs typeface="Aptos"/>
              </a:defRPr>
            </a:pPr>
            <a:r>
              <a:t>QA GATE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7AC3B0B-CFA8-4DE6-8C98-B8A623A33C6B}"/>
              </a:ext>
            </a:extLst>
          </p:cNvPr>
          <p:cNvSpPr>
            <a:spLocks noGrp="1"/>
          </p:cNvSpPr>
          <p:nvPr/>
        </p:nvSpPr>
        <p:spPr>
          <a:xfrm>
            <a:off x="1828800" y="4453128"/>
            <a:ext cx="8503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Only validated datasets move forward to analytics consumption.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4F8A250-2238-43D7-B82A-DC72C3CAB3AC}"/>
              </a:ext>
            </a:extLst>
          </p:cNvPr>
          <p:cNvSpPr>
            <a:spLocks noGrp="1"/>
          </p:cNvSpPr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F503BA3-BF52-430A-89C1-E63278A5407E}"/>
              </a:ext>
            </a:extLst>
          </p:cNvPr>
          <p:cNvSpPr>
            <a:spLocks noGrp="1"/>
          </p:cNvSpPr>
          <p:nvPr/>
        </p:nvSpPr>
        <p:spPr>
          <a:xfrm>
            <a:off x="594360" y="6574536"/>
            <a:ext cx="5029200" cy="198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70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GROCERY RETAIL ANALYTICS  •  DATA ENGINEERING PROJECT</a:t>
            </a:r>
          </a:p>
        </p:txBody>
      </p:sp>
    </p:spTree>
    <p:extLst>
      <p:ext uri="{BB962C8B-B14F-4D97-AF65-F5344CB8AC3E}">
        <p14:creationId xmlns:p14="http://schemas.microsoft.com/office/powerpoint/2010/main" val="14572391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A2A46C-7CB5-420A-92C1-32B876CCD28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4BF122-3630-476C-9163-D7F1CF4BF80D}"/>
              </a:ext>
            </a:extLst>
          </p:cNvPr>
          <p:cNvSpPr>
            <a:spLocks noGrp="1"/>
          </p:cNvSpPr>
          <p:nvPr/>
        </p:nvSpPr>
        <p:spPr>
          <a:xfrm>
            <a:off x="594360" y="256032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000" b="1">
                <a:solidFill>
                  <a:srgbClr val="2677BE"/>
                </a:solidFill>
                <a:latin typeface="Aptos"/>
                <a:ea typeface="Aptos"/>
                <a:cs typeface="Aptos"/>
              </a:defRPr>
            </a:pPr>
            <a:r>
              <a:t>12 • OPERATIONS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0B9502-4785-4597-B388-858FC064E592}"/>
              </a:ext>
            </a:extLst>
          </p:cNvPr>
          <p:cNvSpPr>
            <a:spLocks noGrp="1"/>
          </p:cNvSpPr>
          <p:nvPr/>
        </p:nvSpPr>
        <p:spPr>
          <a:xfrm>
            <a:off x="594360" y="5029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8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Alerts, Monitoring &amp; Logging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F362A3-B6FC-484A-8787-F65C7FF65F3C}"/>
              </a:ext>
            </a:extLst>
          </p:cNvPr>
          <p:cNvSpPr>
            <a:spLocks noGrp="1"/>
          </p:cNvSpPr>
          <p:nvPr/>
        </p:nvSpPr>
        <p:spPr>
          <a:xfrm>
            <a:off x="594360" y="1078992"/>
            <a:ext cx="914400" cy="54864"/>
          </a:xfrm>
          <a:prstGeom prst="rect">
            <a:avLst/>
          </a:prstGeom>
          <a:solidFill>
            <a:srgbClr val="28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44521F-0B68-48F1-80EB-E3105078DC8C}"/>
              </a:ext>
            </a:extLst>
          </p:cNvPr>
          <p:cNvSpPr>
            <a:spLocks noGrp="1"/>
          </p:cNvSpPr>
          <p:nvPr/>
        </p:nvSpPr>
        <p:spPr>
          <a:xfrm>
            <a:off x="11064240" y="41148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uNone/>
              <a:defRPr sz="120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13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B9F59BF-1BC6-4C63-B041-A937FB55342F}"/>
              </a:ext>
            </a:extLst>
          </p:cNvPr>
          <p:cNvSpPr>
            <a:spLocks noGrp="1"/>
          </p:cNvSpPr>
          <p:nvPr/>
        </p:nvSpPr>
        <p:spPr>
          <a:xfrm>
            <a:off x="640080" y="1417320"/>
            <a:ext cx="516636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A704D41-CD71-4BD9-980F-674C9834B504}"/>
              </a:ext>
            </a:extLst>
          </p:cNvPr>
          <p:cNvSpPr>
            <a:spLocks noGrp="1"/>
          </p:cNvSpPr>
          <p:nvPr/>
        </p:nvSpPr>
        <p:spPr>
          <a:xfrm>
            <a:off x="914400" y="1828800"/>
            <a:ext cx="594360" cy="594360"/>
          </a:xfrm>
          <a:prstGeom prst="ellipse">
            <a:avLst/>
          </a:prstGeom>
          <a:solidFill>
            <a:srgbClr val="E0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54929E-2200-4FCA-A897-90D3027EDF70}"/>
              </a:ext>
            </a:extLst>
          </p:cNvPr>
          <p:cNvSpPr>
            <a:spLocks noGrp="1"/>
          </p:cNvSpPr>
          <p:nvPr/>
        </p:nvSpPr>
        <p:spPr>
          <a:xfrm>
            <a:off x="914400" y="1837943"/>
            <a:ext cx="59436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!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FA1034-C845-49E4-ABC3-32D264C401CD}"/>
              </a:ext>
            </a:extLst>
          </p:cNvPr>
          <p:cNvSpPr>
            <a:spLocks noGrp="1"/>
          </p:cNvSpPr>
          <p:nvPr/>
        </p:nvSpPr>
        <p:spPr>
          <a:xfrm>
            <a:off x="1691639" y="1737360"/>
            <a:ext cx="3794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4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PIPELINE FAILURE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DF4130-4CA8-4F73-843C-87281E467B58}"/>
              </a:ext>
            </a:extLst>
          </p:cNvPr>
          <p:cNvSpPr>
            <a:spLocks noGrp="1"/>
          </p:cNvSpPr>
          <p:nvPr/>
        </p:nvSpPr>
        <p:spPr>
          <a:xfrm>
            <a:off x="1691639" y="2176272"/>
            <a:ext cx="3794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Notify the team when ETL jobs fail.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E048CC5-6F68-407F-81C4-2C216D0869C3}"/>
              </a:ext>
            </a:extLst>
          </p:cNvPr>
          <p:cNvSpPr>
            <a:spLocks noGrp="1"/>
          </p:cNvSpPr>
          <p:nvPr/>
        </p:nvSpPr>
        <p:spPr>
          <a:xfrm>
            <a:off x="6263640" y="1417320"/>
            <a:ext cx="516636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A6125B4-A441-4102-8939-C0FD503C0205}"/>
              </a:ext>
            </a:extLst>
          </p:cNvPr>
          <p:cNvSpPr>
            <a:spLocks noGrp="1"/>
          </p:cNvSpPr>
          <p:nvPr/>
        </p:nvSpPr>
        <p:spPr>
          <a:xfrm>
            <a:off x="6537960" y="1828800"/>
            <a:ext cx="594360" cy="594360"/>
          </a:xfrm>
          <a:prstGeom prst="ellipse">
            <a:avLst/>
          </a:prstGeom>
          <a:solidFill>
            <a:srgbClr val="F29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EE5163-608B-4724-BA51-9D61367726DB}"/>
              </a:ext>
            </a:extLst>
          </p:cNvPr>
          <p:cNvSpPr>
            <a:spLocks noGrp="1"/>
          </p:cNvSpPr>
          <p:nvPr/>
        </p:nvSpPr>
        <p:spPr>
          <a:xfrm>
            <a:off x="6537960" y="1837943"/>
            <a:ext cx="59436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!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44E6AC0-6CF5-42B2-82EF-96FD7E873DEF}"/>
              </a:ext>
            </a:extLst>
          </p:cNvPr>
          <p:cNvSpPr>
            <a:spLocks noGrp="1"/>
          </p:cNvSpPr>
          <p:nvPr/>
        </p:nvSpPr>
        <p:spPr>
          <a:xfrm>
            <a:off x="7315200" y="1737360"/>
            <a:ext cx="3794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4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DATA ANOMALY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7262F9-0661-42FD-AB35-4B6272D381C9}"/>
              </a:ext>
            </a:extLst>
          </p:cNvPr>
          <p:cNvSpPr>
            <a:spLocks noGrp="1"/>
          </p:cNvSpPr>
          <p:nvPr/>
        </p:nvSpPr>
        <p:spPr>
          <a:xfrm>
            <a:off x="7315200" y="2176272"/>
            <a:ext cx="3794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Flag quality or unexpected data conditions.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2A442BB-818A-44FE-8FA1-557BABAE3B73}"/>
              </a:ext>
            </a:extLst>
          </p:cNvPr>
          <p:cNvSpPr>
            <a:spLocks noGrp="1"/>
          </p:cNvSpPr>
          <p:nvPr/>
        </p:nvSpPr>
        <p:spPr>
          <a:xfrm>
            <a:off x="640080" y="3566160"/>
            <a:ext cx="516636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B6B865A-18E6-4FDE-9DF2-FEC43C5362E8}"/>
              </a:ext>
            </a:extLst>
          </p:cNvPr>
          <p:cNvSpPr>
            <a:spLocks noGrp="1"/>
          </p:cNvSpPr>
          <p:nvPr/>
        </p:nvSpPr>
        <p:spPr>
          <a:xfrm>
            <a:off x="914400" y="3977640"/>
            <a:ext cx="594360" cy="594360"/>
          </a:xfrm>
          <a:prstGeom prst="ellipse">
            <a:avLst/>
          </a:prstGeom>
          <a:solidFill>
            <a:srgbClr val="18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2436012-FF0C-4060-832C-6C474156B2C9}"/>
              </a:ext>
            </a:extLst>
          </p:cNvPr>
          <p:cNvSpPr>
            <a:spLocks noGrp="1"/>
          </p:cNvSpPr>
          <p:nvPr/>
        </p:nvSpPr>
        <p:spPr>
          <a:xfrm>
            <a:off x="914400" y="3986784"/>
            <a:ext cx="59436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!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BDC0F9-24A4-4F42-8D19-AF262E86A952}"/>
              </a:ext>
            </a:extLst>
          </p:cNvPr>
          <p:cNvSpPr>
            <a:spLocks noGrp="1"/>
          </p:cNvSpPr>
          <p:nvPr/>
        </p:nvSpPr>
        <p:spPr>
          <a:xfrm>
            <a:off x="1691639" y="3886200"/>
            <a:ext cx="3794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4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SLACK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006FF09-39B6-4A48-A3A3-D62BD3A790FE}"/>
              </a:ext>
            </a:extLst>
          </p:cNvPr>
          <p:cNvSpPr>
            <a:spLocks noGrp="1"/>
          </p:cNvSpPr>
          <p:nvPr/>
        </p:nvSpPr>
        <p:spPr>
          <a:xfrm>
            <a:off x="1691639" y="4325112"/>
            <a:ext cx="3794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Send operational notifications in real time.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358B7452-340F-4502-AB34-D6D81A674B84}"/>
              </a:ext>
            </a:extLst>
          </p:cNvPr>
          <p:cNvSpPr>
            <a:spLocks noGrp="1"/>
          </p:cNvSpPr>
          <p:nvPr/>
        </p:nvSpPr>
        <p:spPr>
          <a:xfrm>
            <a:off x="6263640" y="3566160"/>
            <a:ext cx="516636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BACE4C1-4708-480F-B000-8607C19523F1}"/>
              </a:ext>
            </a:extLst>
          </p:cNvPr>
          <p:cNvSpPr>
            <a:spLocks noGrp="1"/>
          </p:cNvSpPr>
          <p:nvPr/>
        </p:nvSpPr>
        <p:spPr>
          <a:xfrm>
            <a:off x="6537960" y="3977640"/>
            <a:ext cx="594360" cy="594360"/>
          </a:xfrm>
          <a:prstGeom prst="ellipse">
            <a:avLst/>
          </a:prstGeom>
          <a:solidFill>
            <a:srgbClr val="71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C4E7B1E-7046-429F-82E2-47EB5E9FB651}"/>
              </a:ext>
            </a:extLst>
          </p:cNvPr>
          <p:cNvSpPr>
            <a:spLocks noGrp="1"/>
          </p:cNvSpPr>
          <p:nvPr/>
        </p:nvSpPr>
        <p:spPr>
          <a:xfrm>
            <a:off x="6537960" y="3986784"/>
            <a:ext cx="594360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!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7DBB626-2F2D-400E-8A79-08584B8A6B60}"/>
              </a:ext>
            </a:extLst>
          </p:cNvPr>
          <p:cNvSpPr>
            <a:spLocks noGrp="1"/>
          </p:cNvSpPr>
          <p:nvPr/>
        </p:nvSpPr>
        <p:spPr>
          <a:xfrm>
            <a:off x="7315200" y="3886200"/>
            <a:ext cx="3794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4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ERROR LOG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4CE1626-AD03-448B-89E2-50BFAE8B651A}"/>
              </a:ext>
            </a:extLst>
          </p:cNvPr>
          <p:cNvSpPr>
            <a:spLocks noGrp="1"/>
          </p:cNvSpPr>
          <p:nvPr/>
        </p:nvSpPr>
        <p:spPr>
          <a:xfrm>
            <a:off x="7315200" y="4325112"/>
            <a:ext cx="3794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50" b="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Store failures and abnormal records for troubleshooting.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C1677A33-B8F8-4D12-9D29-97CE8F347077}"/>
              </a:ext>
            </a:extLst>
          </p:cNvPr>
          <p:cNvSpPr>
            <a:spLocks noGrp="1"/>
          </p:cNvSpPr>
          <p:nvPr/>
        </p:nvSpPr>
        <p:spPr>
          <a:xfrm>
            <a:off x="1920240" y="5532120"/>
            <a:ext cx="8321040" cy="475488"/>
          </a:xfrm>
          <a:prstGeom prst="roundRect">
            <a:avLst/>
          </a:prstGeom>
          <a:solidFill>
            <a:srgbClr val="0E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E9C13D4-B171-4364-9976-5F2A4C0BAE1B}"/>
              </a:ext>
            </a:extLst>
          </p:cNvPr>
          <p:cNvSpPr>
            <a:spLocks noGrp="1"/>
          </p:cNvSpPr>
          <p:nvPr/>
        </p:nvSpPr>
        <p:spPr>
          <a:xfrm>
            <a:off x="1920240" y="5641848"/>
            <a:ext cx="8321040" cy="259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grocery_catalog.logs.etl_errors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A4F7FF6-9AA0-41A9-A37D-6B2DC474A27C}"/>
              </a:ext>
            </a:extLst>
          </p:cNvPr>
          <p:cNvSpPr>
            <a:spLocks noGrp="1"/>
          </p:cNvSpPr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707CF18-7A8C-4543-B230-8DA84A889A74}"/>
              </a:ext>
            </a:extLst>
          </p:cNvPr>
          <p:cNvSpPr>
            <a:spLocks noGrp="1"/>
          </p:cNvSpPr>
          <p:nvPr/>
        </p:nvSpPr>
        <p:spPr>
          <a:xfrm>
            <a:off x="594360" y="6574536"/>
            <a:ext cx="5029200" cy="198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70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GROCERY RETAIL ANALYTICS  •  DATA ENGINEERING PROJECT</a:t>
            </a:r>
          </a:p>
        </p:txBody>
      </p:sp>
    </p:spTree>
    <p:extLst>
      <p:ext uri="{BB962C8B-B14F-4D97-AF65-F5344CB8AC3E}">
        <p14:creationId xmlns:p14="http://schemas.microsoft.com/office/powerpoint/2010/main" val="7084309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7B69651-F745-4A51-A336-01896F0BB5E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50E9C5-E08D-495E-909D-05E7BDCCC09A}"/>
              </a:ext>
            </a:extLst>
          </p:cNvPr>
          <p:cNvSpPr>
            <a:spLocks noGrp="1"/>
          </p:cNvSpPr>
          <p:nvPr/>
        </p:nvSpPr>
        <p:spPr>
          <a:xfrm>
            <a:off x="594360" y="256032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000" b="1">
                <a:solidFill>
                  <a:srgbClr val="2677BE"/>
                </a:solidFill>
                <a:latin typeface="Aptos"/>
                <a:ea typeface="Aptos"/>
                <a:cs typeface="Aptos"/>
              </a:defRPr>
            </a:pPr>
            <a:r>
              <a:t>13 • ORCHESTRATION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9392B2-AADE-4A1A-AAE7-0B80856F5400}"/>
              </a:ext>
            </a:extLst>
          </p:cNvPr>
          <p:cNvSpPr>
            <a:spLocks noGrp="1"/>
          </p:cNvSpPr>
          <p:nvPr/>
        </p:nvSpPr>
        <p:spPr>
          <a:xfrm>
            <a:off x="594360" y="5029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8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Airflow Pipeline Automation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05CD64-C378-446E-962A-0F7D059F6C99}"/>
              </a:ext>
            </a:extLst>
          </p:cNvPr>
          <p:cNvSpPr>
            <a:spLocks noGrp="1"/>
          </p:cNvSpPr>
          <p:nvPr/>
        </p:nvSpPr>
        <p:spPr>
          <a:xfrm>
            <a:off x="594360" y="1078992"/>
            <a:ext cx="914400" cy="54864"/>
          </a:xfrm>
          <a:prstGeom prst="rect">
            <a:avLst/>
          </a:prstGeom>
          <a:solidFill>
            <a:srgbClr val="28BE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6133A9-002E-4889-94F7-654D10C9206A}"/>
              </a:ext>
            </a:extLst>
          </p:cNvPr>
          <p:cNvSpPr>
            <a:spLocks noGrp="1"/>
          </p:cNvSpPr>
          <p:nvPr/>
        </p:nvSpPr>
        <p:spPr>
          <a:xfrm>
            <a:off x="11064240" y="41148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buNone/>
              <a:defRPr sz="120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14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8832B30-CD53-4CE9-9D9F-60890809A765}"/>
              </a:ext>
            </a:extLst>
          </p:cNvPr>
          <p:cNvSpPr>
            <a:spLocks noGrp="1"/>
          </p:cNvSpPr>
          <p:nvPr/>
        </p:nvSpPr>
        <p:spPr>
          <a:xfrm>
            <a:off x="502920" y="1828800"/>
            <a:ext cx="157276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7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38563E-2615-4BAF-B3C9-303CF30B95CC}"/>
              </a:ext>
            </a:extLst>
          </p:cNvPr>
          <p:cNvSpPr>
            <a:spLocks noGrp="1"/>
          </p:cNvSpPr>
          <p:nvPr/>
        </p:nvSpPr>
        <p:spPr>
          <a:xfrm>
            <a:off x="502920" y="2029968"/>
            <a:ext cx="15727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200" b="1">
                <a:solidFill>
                  <a:srgbClr val="2677BE"/>
                </a:solidFill>
                <a:latin typeface="Aptos"/>
                <a:ea typeface="Aptos"/>
                <a:cs typeface="Aptos"/>
              </a:defRPr>
            </a:pPr>
            <a:r>
              <a:t>START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1C2CE8-6E7F-4490-A327-147E2A3BF9F2}"/>
              </a:ext>
            </a:extLst>
          </p:cNvPr>
          <p:cNvSpPr>
            <a:spLocks noGrp="1"/>
          </p:cNvSpPr>
          <p:nvPr/>
        </p:nvSpPr>
        <p:spPr>
          <a:xfrm>
            <a:off x="612648" y="2395728"/>
            <a:ext cx="135331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950" b="1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Daily trigger</a:t>
            </a:r>
          </a:p>
        </p:txBody>
      </p:sp>
      <p:sp>
        <p:nvSpPr>
          <p:cNvPr id="10" name="Connector 9">
            <a:extLst>
              <a:ext uri="{FF2B5EF4-FFF2-40B4-BE49-F238E27FC236}">
                <a16:creationId xmlns:a16="http://schemas.microsoft.com/office/drawing/2014/main" id="{7411566A-B4BD-427E-8FED-7F6DF211D4A2}"/>
              </a:ext>
            </a:extLst>
          </p:cNvPr>
          <p:cNvSpPr>
            <a:spLocks noGrp="1"/>
          </p:cNvSpPr>
          <p:nvPr/>
        </p:nvSpPr>
        <p:spPr>
          <a:xfrm>
            <a:off x="2093976" y="2450592"/>
            <a:ext cx="310896" cy="0"/>
          </a:xfrm>
          <a:prstGeom prst="line">
            <a:avLst/>
          </a:prstGeom>
          <a:ln w="31750">
            <a:solidFill>
              <a:srgbClr val="2677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C576ADD-3EF7-4BEA-8D0C-F02A30D93B68}"/>
              </a:ext>
            </a:extLst>
          </p:cNvPr>
          <p:cNvSpPr>
            <a:spLocks noGrp="1"/>
          </p:cNvSpPr>
          <p:nvPr/>
        </p:nvSpPr>
        <p:spPr>
          <a:xfrm>
            <a:off x="2441448" y="1828800"/>
            <a:ext cx="157276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8B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303151-082A-4E2F-962B-A9238996386F}"/>
              </a:ext>
            </a:extLst>
          </p:cNvPr>
          <p:cNvSpPr>
            <a:spLocks noGrp="1"/>
          </p:cNvSpPr>
          <p:nvPr/>
        </p:nvSpPr>
        <p:spPr>
          <a:xfrm>
            <a:off x="2441448" y="2029968"/>
            <a:ext cx="15727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200" b="1">
                <a:solidFill>
                  <a:srgbClr val="28BEC9"/>
                </a:solidFill>
                <a:latin typeface="Aptos"/>
                <a:ea typeface="Aptos"/>
                <a:cs typeface="Aptos"/>
              </a:defRPr>
            </a:pPr>
            <a:r>
              <a:t>INGEST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58A44D-7B7E-48D4-958F-2F92D5D73E00}"/>
              </a:ext>
            </a:extLst>
          </p:cNvPr>
          <p:cNvSpPr>
            <a:spLocks noGrp="1"/>
          </p:cNvSpPr>
          <p:nvPr/>
        </p:nvSpPr>
        <p:spPr>
          <a:xfrm>
            <a:off x="2551176" y="2395728"/>
            <a:ext cx="135331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950" b="1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ADF / storage</a:t>
            </a:r>
          </a:p>
        </p:txBody>
      </p:sp>
      <p:sp>
        <p:nvSpPr>
          <p:cNvPr id="14" name="Connector 13">
            <a:extLst>
              <a:ext uri="{FF2B5EF4-FFF2-40B4-BE49-F238E27FC236}">
                <a16:creationId xmlns:a16="http://schemas.microsoft.com/office/drawing/2014/main" id="{20194567-A0AE-4367-8920-6102399C9949}"/>
              </a:ext>
            </a:extLst>
          </p:cNvPr>
          <p:cNvSpPr>
            <a:spLocks noGrp="1"/>
          </p:cNvSpPr>
          <p:nvPr/>
        </p:nvSpPr>
        <p:spPr>
          <a:xfrm>
            <a:off x="4032504" y="2450592"/>
            <a:ext cx="310896" cy="0"/>
          </a:xfrm>
          <a:prstGeom prst="line">
            <a:avLst/>
          </a:prstGeom>
          <a:ln w="31750">
            <a:solidFill>
              <a:srgbClr val="28BE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3B43A33-963F-4A30-92E4-B4B2544F4557}"/>
              </a:ext>
            </a:extLst>
          </p:cNvPr>
          <p:cNvSpPr>
            <a:spLocks noGrp="1"/>
          </p:cNvSpPr>
          <p:nvPr/>
        </p:nvSpPr>
        <p:spPr>
          <a:xfrm>
            <a:off x="4379976" y="1828800"/>
            <a:ext cx="157276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1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462730-3DC6-4D45-AE54-DEFADCB5AFA0}"/>
              </a:ext>
            </a:extLst>
          </p:cNvPr>
          <p:cNvSpPr>
            <a:spLocks noGrp="1"/>
          </p:cNvSpPr>
          <p:nvPr/>
        </p:nvSpPr>
        <p:spPr>
          <a:xfrm>
            <a:off x="4379976" y="2029968"/>
            <a:ext cx="15727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200" b="1">
                <a:solidFill>
                  <a:srgbClr val="715BBE"/>
                </a:solidFill>
                <a:latin typeface="Aptos"/>
                <a:ea typeface="Aptos"/>
                <a:cs typeface="Aptos"/>
              </a:defRPr>
            </a:pPr>
            <a:r>
              <a:t>BRONZE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40F96C-B439-4C39-904D-1C592381C536}"/>
              </a:ext>
            </a:extLst>
          </p:cNvPr>
          <p:cNvSpPr>
            <a:spLocks noGrp="1"/>
          </p:cNvSpPr>
          <p:nvPr/>
        </p:nvSpPr>
        <p:spPr>
          <a:xfrm>
            <a:off x="4489704" y="2395728"/>
            <a:ext cx="135331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950" b="1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Raw Delta</a:t>
            </a:r>
          </a:p>
        </p:txBody>
      </p:sp>
      <p:sp>
        <p:nvSpPr>
          <p:cNvPr id="18" name="Connector 17">
            <a:extLst>
              <a:ext uri="{FF2B5EF4-FFF2-40B4-BE49-F238E27FC236}">
                <a16:creationId xmlns:a16="http://schemas.microsoft.com/office/drawing/2014/main" id="{B01BA820-37AA-4C76-B054-51C0CDB6E1B7}"/>
              </a:ext>
            </a:extLst>
          </p:cNvPr>
          <p:cNvSpPr>
            <a:spLocks noGrp="1"/>
          </p:cNvSpPr>
          <p:nvPr/>
        </p:nvSpPr>
        <p:spPr>
          <a:xfrm>
            <a:off x="5971032" y="2450592"/>
            <a:ext cx="310896" cy="0"/>
          </a:xfrm>
          <a:prstGeom prst="line">
            <a:avLst/>
          </a:prstGeom>
          <a:ln w="31750">
            <a:solidFill>
              <a:srgbClr val="715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BE81C521-05E9-42F0-9B0A-32E7064F828E}"/>
              </a:ext>
            </a:extLst>
          </p:cNvPr>
          <p:cNvSpPr>
            <a:spLocks noGrp="1"/>
          </p:cNvSpPr>
          <p:nvPr/>
        </p:nvSpPr>
        <p:spPr>
          <a:xfrm>
            <a:off x="6318504" y="1828800"/>
            <a:ext cx="157276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85E9F0A-C72C-43B4-86B8-4A247E49EB74}"/>
              </a:ext>
            </a:extLst>
          </p:cNvPr>
          <p:cNvSpPr>
            <a:spLocks noGrp="1"/>
          </p:cNvSpPr>
          <p:nvPr/>
        </p:nvSpPr>
        <p:spPr>
          <a:xfrm>
            <a:off x="6318504" y="2029968"/>
            <a:ext cx="15727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200" b="1">
                <a:solidFill>
                  <a:srgbClr val="189D8B"/>
                </a:solidFill>
                <a:latin typeface="Aptos"/>
                <a:ea typeface="Aptos"/>
                <a:cs typeface="Aptos"/>
              </a:defRPr>
            </a:pPr>
            <a:r>
              <a:t>SILVER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C05356-2232-4C40-B250-88C344805CC3}"/>
              </a:ext>
            </a:extLst>
          </p:cNvPr>
          <p:cNvSpPr>
            <a:spLocks noGrp="1"/>
          </p:cNvSpPr>
          <p:nvPr/>
        </p:nvSpPr>
        <p:spPr>
          <a:xfrm>
            <a:off x="6428232" y="2395728"/>
            <a:ext cx="135331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950" b="1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Clean + enrich</a:t>
            </a:r>
          </a:p>
        </p:txBody>
      </p:sp>
      <p:sp>
        <p:nvSpPr>
          <p:cNvPr id="22" name="Connector 21">
            <a:extLst>
              <a:ext uri="{FF2B5EF4-FFF2-40B4-BE49-F238E27FC236}">
                <a16:creationId xmlns:a16="http://schemas.microsoft.com/office/drawing/2014/main" id="{A46DB21A-D9DA-4969-BCEA-FB9A6F0AB81D}"/>
              </a:ext>
            </a:extLst>
          </p:cNvPr>
          <p:cNvSpPr>
            <a:spLocks noGrp="1"/>
          </p:cNvSpPr>
          <p:nvPr/>
        </p:nvSpPr>
        <p:spPr>
          <a:xfrm>
            <a:off x="7909560" y="2450592"/>
            <a:ext cx="310896" cy="0"/>
          </a:xfrm>
          <a:prstGeom prst="line">
            <a:avLst/>
          </a:prstGeom>
          <a:ln w="31750">
            <a:solidFill>
              <a:srgbClr val="189D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B897F2E3-79B3-4EFA-8657-EBD23611CCA2}"/>
              </a:ext>
            </a:extLst>
          </p:cNvPr>
          <p:cNvSpPr>
            <a:spLocks noGrp="1"/>
          </p:cNvSpPr>
          <p:nvPr/>
        </p:nvSpPr>
        <p:spPr>
          <a:xfrm>
            <a:off x="8257032" y="1828800"/>
            <a:ext cx="157276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9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D8A6726-4103-4E14-A6E7-C1B6439DC811}"/>
              </a:ext>
            </a:extLst>
          </p:cNvPr>
          <p:cNvSpPr>
            <a:spLocks noGrp="1"/>
          </p:cNvSpPr>
          <p:nvPr/>
        </p:nvSpPr>
        <p:spPr>
          <a:xfrm>
            <a:off x="8257032" y="2029968"/>
            <a:ext cx="15727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200" b="1">
                <a:solidFill>
                  <a:srgbClr val="F29746"/>
                </a:solidFill>
                <a:latin typeface="Aptos"/>
                <a:ea typeface="Aptos"/>
                <a:cs typeface="Aptos"/>
              </a:defRPr>
            </a:pPr>
            <a:r>
              <a:t>GOLD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69CB63C-78A8-4172-AC3C-89765BC6810A}"/>
              </a:ext>
            </a:extLst>
          </p:cNvPr>
          <p:cNvSpPr>
            <a:spLocks noGrp="1"/>
          </p:cNvSpPr>
          <p:nvPr/>
        </p:nvSpPr>
        <p:spPr>
          <a:xfrm>
            <a:off x="8366760" y="2395728"/>
            <a:ext cx="135331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950" b="1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Metrics</a:t>
            </a:r>
          </a:p>
        </p:txBody>
      </p:sp>
      <p:sp>
        <p:nvSpPr>
          <p:cNvPr id="26" name="Connector 25">
            <a:extLst>
              <a:ext uri="{FF2B5EF4-FFF2-40B4-BE49-F238E27FC236}">
                <a16:creationId xmlns:a16="http://schemas.microsoft.com/office/drawing/2014/main" id="{66DAAB81-7324-48F6-89B7-0F94EA3DD05A}"/>
              </a:ext>
            </a:extLst>
          </p:cNvPr>
          <p:cNvSpPr>
            <a:spLocks noGrp="1"/>
          </p:cNvSpPr>
          <p:nvPr/>
        </p:nvSpPr>
        <p:spPr>
          <a:xfrm>
            <a:off x="9848088" y="2450592"/>
            <a:ext cx="310896" cy="0"/>
          </a:xfrm>
          <a:prstGeom prst="line">
            <a:avLst/>
          </a:prstGeom>
          <a:ln w="31750">
            <a:solidFill>
              <a:srgbClr val="F297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C6CBF0F7-751C-4D58-BD70-2EAD4438EF7D}"/>
              </a:ext>
            </a:extLst>
          </p:cNvPr>
          <p:cNvSpPr>
            <a:spLocks noGrp="1"/>
          </p:cNvSpPr>
          <p:nvPr/>
        </p:nvSpPr>
        <p:spPr>
          <a:xfrm>
            <a:off x="10195560" y="1828800"/>
            <a:ext cx="1572768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D8A25F4-7B20-4557-97E9-CE991B24F74E}"/>
              </a:ext>
            </a:extLst>
          </p:cNvPr>
          <p:cNvSpPr>
            <a:spLocks noGrp="1"/>
          </p:cNvSpPr>
          <p:nvPr/>
        </p:nvSpPr>
        <p:spPr>
          <a:xfrm>
            <a:off x="10195560" y="2029968"/>
            <a:ext cx="15727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200" b="1">
                <a:solidFill>
                  <a:srgbClr val="E05B5B"/>
                </a:solidFill>
                <a:latin typeface="Aptos"/>
                <a:ea typeface="Aptos"/>
                <a:cs typeface="Aptos"/>
              </a:defRPr>
            </a:pPr>
            <a:r>
              <a:t>ALERT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759A2A3-E4AD-486C-8C17-010E9AC25C3B}"/>
              </a:ext>
            </a:extLst>
          </p:cNvPr>
          <p:cNvSpPr>
            <a:spLocks noGrp="1"/>
          </p:cNvSpPr>
          <p:nvPr/>
        </p:nvSpPr>
        <p:spPr>
          <a:xfrm>
            <a:off x="10305288" y="2395728"/>
            <a:ext cx="135331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950" b="1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Slack / logs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3EC0560-AD48-4677-92FA-F82841FF3B50}"/>
              </a:ext>
            </a:extLst>
          </p:cNvPr>
          <p:cNvSpPr>
            <a:spLocks noGrp="1"/>
          </p:cNvSpPr>
          <p:nvPr/>
        </p:nvSpPr>
        <p:spPr>
          <a:xfrm>
            <a:off x="777240" y="38862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4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ORCHESTRATION RESPONSIBILITIES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5F31D91-6F3E-499D-B100-AD163BF26F65}"/>
              </a:ext>
            </a:extLst>
          </p:cNvPr>
          <p:cNvSpPr>
            <a:spLocks noGrp="1"/>
          </p:cNvSpPr>
          <p:nvPr/>
        </p:nvSpPr>
        <p:spPr>
          <a:xfrm>
            <a:off x="1325880" y="4343400"/>
            <a:ext cx="9509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buNone/>
              <a:defRPr sz="120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Schedule daily execution and manage dependencies.</a:t>
            </a:r>
          </a:p>
          <a:p>
            <a:pPr>
              <a:spcAft>
                <a:spcPts val="800"/>
              </a:spcAft>
              <a:buNone/>
              <a:defRPr sz="120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Trigger Databricks notebooks/jobs for each medallion layer.</a:t>
            </a:r>
          </a:p>
          <a:p>
            <a:pPr>
              <a:spcAft>
                <a:spcPts val="800"/>
              </a:spcAft>
              <a:buNone/>
              <a:defRPr sz="120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Monitor task status and route failures to alerting.</a:t>
            </a:r>
          </a:p>
          <a:p>
            <a:pPr>
              <a:spcAft>
                <a:spcPts val="800"/>
              </a:spcAft>
              <a:buNone/>
              <a:defRPr sz="1200">
                <a:solidFill>
                  <a:srgbClr val="2F3A46"/>
                </a:solidFill>
                <a:latin typeface="Aptos"/>
                <a:ea typeface="Aptos"/>
                <a:cs typeface="Aptos"/>
              </a:defRPr>
            </a:pPr>
            <a:r>
              <a:t>Provide a repeatable, automated production workflow.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63EFDEA-F909-45EA-A794-56614BFE4548}"/>
              </a:ext>
            </a:extLst>
          </p:cNvPr>
          <p:cNvSpPr>
            <a:spLocks noGrp="1"/>
          </p:cNvSpPr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AF6FC80-18A6-4F1F-8C8B-10105B0F3714}"/>
              </a:ext>
            </a:extLst>
          </p:cNvPr>
          <p:cNvSpPr>
            <a:spLocks noGrp="1"/>
          </p:cNvSpPr>
          <p:nvPr/>
        </p:nvSpPr>
        <p:spPr>
          <a:xfrm>
            <a:off x="594360" y="6574536"/>
            <a:ext cx="5029200" cy="198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700" b="1">
                <a:solidFill>
                  <a:srgbClr val="687684"/>
                </a:solidFill>
                <a:latin typeface="Aptos"/>
                <a:ea typeface="Aptos"/>
                <a:cs typeface="Aptos"/>
              </a:defRPr>
            </a:pPr>
            <a:r>
              <a:t>GROCERY RETAIL ANALYTICS  •  DATA ENGINEERING PROJECT</a:t>
            </a:r>
          </a:p>
        </p:txBody>
      </p:sp>
    </p:spTree>
    <p:extLst>
      <p:ext uri="{BB962C8B-B14F-4D97-AF65-F5344CB8AC3E}">
        <p14:creationId xmlns:p14="http://schemas.microsoft.com/office/powerpoint/2010/main" val="9188989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1A6EFB0-E749-4938-A82F-C8644FF831B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9DB38D-073A-4F9E-9DE8-651BC2CD5E57}"/>
              </a:ext>
            </a:extLst>
          </p:cNvPr>
          <p:cNvSpPr>
            <a:spLocks noGrp="1"/>
          </p:cNvSpPr>
          <p:nvPr/>
        </p:nvSpPr>
        <p:spPr>
          <a:xfrm>
            <a:off x="685800" y="502920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000" b="1">
                <a:solidFill>
                  <a:srgbClr val="28BEC9"/>
                </a:solidFill>
                <a:latin typeface="Aptos"/>
                <a:ea typeface="Aptos"/>
                <a:cs typeface="Aptos"/>
              </a:defRPr>
            </a:pPr>
            <a:r>
              <a:t>FINAL • BUSINESS VALUE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3EF082-4280-4482-B47A-C760321766F0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Business Outcome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FB16BA-F24F-4A5A-AB66-D3064EB7B0CC}"/>
              </a:ext>
            </a:extLst>
          </p:cNvPr>
          <p:cNvSpPr>
            <a:spLocks noGrp="1"/>
          </p:cNvSpPr>
          <p:nvPr/>
        </p:nvSpPr>
        <p:spPr>
          <a:xfrm>
            <a:off x="685800" y="1691640"/>
            <a:ext cx="9966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700" b="0">
                <a:solidFill>
                  <a:srgbClr val="DCE8F3"/>
                </a:solidFill>
                <a:latin typeface="Aptos"/>
                <a:ea typeface="Aptos"/>
                <a:cs typeface="Aptos"/>
              </a:defRPr>
            </a:pPr>
            <a:r>
              <a:t>A scalable, automated grocery data platform that turns raw retail data into trusted business insights.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15062B2-79D9-43E0-AB87-1FAE6072E7A5}"/>
              </a:ext>
            </a:extLst>
          </p:cNvPr>
          <p:cNvSpPr>
            <a:spLocks noGrp="1"/>
          </p:cNvSpPr>
          <p:nvPr/>
        </p:nvSpPr>
        <p:spPr>
          <a:xfrm>
            <a:off x="749808" y="2697480"/>
            <a:ext cx="320040" cy="320040"/>
          </a:xfrm>
          <a:prstGeom prst="ellipse">
            <a:avLst/>
          </a:prstGeom>
          <a:solidFill>
            <a:srgbClr val="267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314A43-A11E-4F32-AF48-DD3621DD8D95}"/>
              </a:ext>
            </a:extLst>
          </p:cNvPr>
          <p:cNvSpPr>
            <a:spLocks noGrp="1"/>
          </p:cNvSpPr>
          <p:nvPr/>
        </p:nvSpPr>
        <p:spPr>
          <a:xfrm>
            <a:off x="749808" y="2706624"/>
            <a:ext cx="320040" cy="30175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✓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FDCD85-B5D8-4471-9A68-F9A0BDCB8A70}"/>
              </a:ext>
            </a:extLst>
          </p:cNvPr>
          <p:cNvSpPr>
            <a:spLocks noGrp="1"/>
          </p:cNvSpPr>
          <p:nvPr/>
        </p:nvSpPr>
        <p:spPr>
          <a:xfrm>
            <a:off x="1261872" y="267919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Scalable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620150-5E0B-411E-919D-E5CF09918427}"/>
              </a:ext>
            </a:extLst>
          </p:cNvPr>
          <p:cNvSpPr>
            <a:spLocks noGrp="1"/>
          </p:cNvSpPr>
          <p:nvPr/>
        </p:nvSpPr>
        <p:spPr>
          <a:xfrm>
            <a:off x="2971800" y="2679192"/>
            <a:ext cx="7132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50" b="0">
                <a:solidFill>
                  <a:srgbClr val="D6E0EA"/>
                </a:solidFill>
                <a:latin typeface="Aptos"/>
                <a:ea typeface="Aptos"/>
                <a:cs typeface="Aptos"/>
              </a:defRPr>
            </a:pPr>
            <a:r>
              <a:t>Supports daily retail data processing.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D82842F-6081-4787-883E-CEC932FECFDE}"/>
              </a:ext>
            </a:extLst>
          </p:cNvPr>
          <p:cNvSpPr>
            <a:spLocks noGrp="1"/>
          </p:cNvSpPr>
          <p:nvPr/>
        </p:nvSpPr>
        <p:spPr>
          <a:xfrm>
            <a:off x="749808" y="3264408"/>
            <a:ext cx="320040" cy="320040"/>
          </a:xfrm>
          <a:prstGeom prst="ellipse">
            <a:avLst/>
          </a:prstGeom>
          <a:solidFill>
            <a:srgbClr val="18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E2B4D7-35FB-45C8-8E5D-82407AD5B278}"/>
              </a:ext>
            </a:extLst>
          </p:cNvPr>
          <p:cNvSpPr>
            <a:spLocks noGrp="1"/>
          </p:cNvSpPr>
          <p:nvPr/>
        </p:nvSpPr>
        <p:spPr>
          <a:xfrm>
            <a:off x="749808" y="3273552"/>
            <a:ext cx="320040" cy="30175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✓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4313D8-8624-4EDE-9F3B-95256CDCDED5}"/>
              </a:ext>
            </a:extLst>
          </p:cNvPr>
          <p:cNvSpPr>
            <a:spLocks noGrp="1"/>
          </p:cNvSpPr>
          <p:nvPr/>
        </p:nvSpPr>
        <p:spPr>
          <a:xfrm>
            <a:off x="1261872" y="324612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Reliable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880178-BAD3-4CC1-8478-E42DF9E9E0F9}"/>
              </a:ext>
            </a:extLst>
          </p:cNvPr>
          <p:cNvSpPr>
            <a:spLocks noGrp="1"/>
          </p:cNvSpPr>
          <p:nvPr/>
        </p:nvSpPr>
        <p:spPr>
          <a:xfrm>
            <a:off x="2971800" y="3246120"/>
            <a:ext cx="7132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50" b="0">
                <a:solidFill>
                  <a:srgbClr val="D6E0EA"/>
                </a:solidFill>
                <a:latin typeface="Aptos"/>
                <a:ea typeface="Aptos"/>
                <a:cs typeface="Aptos"/>
              </a:defRPr>
            </a:pPr>
            <a:r>
              <a:t>Improves data quality and traceability.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B480765-CBF8-4755-A21B-AEAE2B124A00}"/>
              </a:ext>
            </a:extLst>
          </p:cNvPr>
          <p:cNvSpPr>
            <a:spLocks noGrp="1"/>
          </p:cNvSpPr>
          <p:nvPr/>
        </p:nvSpPr>
        <p:spPr>
          <a:xfrm>
            <a:off x="749808" y="3831336"/>
            <a:ext cx="320040" cy="320040"/>
          </a:xfrm>
          <a:prstGeom prst="ellipse">
            <a:avLst/>
          </a:prstGeom>
          <a:solidFill>
            <a:srgbClr val="71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40ED4A-2336-4B5A-B81B-7D6E93CE8D8E}"/>
              </a:ext>
            </a:extLst>
          </p:cNvPr>
          <p:cNvSpPr>
            <a:spLocks noGrp="1"/>
          </p:cNvSpPr>
          <p:nvPr/>
        </p:nvSpPr>
        <p:spPr>
          <a:xfrm>
            <a:off x="749808" y="3840480"/>
            <a:ext cx="320040" cy="30175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✓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3CFE1F-4231-4B8F-B339-05D9331C1C87}"/>
              </a:ext>
            </a:extLst>
          </p:cNvPr>
          <p:cNvSpPr>
            <a:spLocks noGrp="1"/>
          </p:cNvSpPr>
          <p:nvPr/>
        </p:nvSpPr>
        <p:spPr>
          <a:xfrm>
            <a:off x="1261872" y="3813048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Actionable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A17BB29-3A1F-458C-A45E-838340823C8B}"/>
              </a:ext>
            </a:extLst>
          </p:cNvPr>
          <p:cNvSpPr>
            <a:spLocks noGrp="1"/>
          </p:cNvSpPr>
          <p:nvPr/>
        </p:nvSpPr>
        <p:spPr>
          <a:xfrm>
            <a:off x="2971800" y="3813048"/>
            <a:ext cx="7132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50" b="0">
                <a:solidFill>
                  <a:srgbClr val="D6E0EA"/>
                </a:solidFill>
                <a:latin typeface="Aptos"/>
                <a:ea typeface="Aptos"/>
                <a:cs typeface="Aptos"/>
              </a:defRPr>
            </a:pPr>
            <a:r>
              <a:t>Produces sales, inventory and customer metrics for analytics.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CD07653-5E99-4070-8025-9D27F43CED70}"/>
              </a:ext>
            </a:extLst>
          </p:cNvPr>
          <p:cNvSpPr>
            <a:spLocks noGrp="1"/>
          </p:cNvSpPr>
          <p:nvPr/>
        </p:nvSpPr>
        <p:spPr>
          <a:xfrm>
            <a:off x="749808" y="4398264"/>
            <a:ext cx="320040" cy="320040"/>
          </a:xfrm>
          <a:prstGeom prst="ellipse">
            <a:avLst/>
          </a:prstGeom>
          <a:solidFill>
            <a:srgbClr val="F29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29D5C0A-4119-4099-85F0-36D0C12F7FA6}"/>
              </a:ext>
            </a:extLst>
          </p:cNvPr>
          <p:cNvSpPr>
            <a:spLocks noGrp="1"/>
          </p:cNvSpPr>
          <p:nvPr/>
        </p:nvSpPr>
        <p:spPr>
          <a:xfrm>
            <a:off x="749808" y="4407408"/>
            <a:ext cx="320040" cy="30175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✓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53B345-F5D5-42AE-BA72-B864DBFDB59C}"/>
              </a:ext>
            </a:extLst>
          </p:cNvPr>
          <p:cNvSpPr>
            <a:spLocks noGrp="1"/>
          </p:cNvSpPr>
          <p:nvPr/>
        </p:nvSpPr>
        <p:spPr>
          <a:xfrm>
            <a:off x="1261872" y="4379976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Automated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DEE083-D461-45C9-8B5A-F654E4C08DF6}"/>
              </a:ext>
            </a:extLst>
          </p:cNvPr>
          <p:cNvSpPr>
            <a:spLocks noGrp="1"/>
          </p:cNvSpPr>
          <p:nvPr/>
        </p:nvSpPr>
        <p:spPr>
          <a:xfrm>
            <a:off x="2971800" y="4379976"/>
            <a:ext cx="7132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50" b="0">
                <a:solidFill>
                  <a:srgbClr val="D6E0EA"/>
                </a:solidFill>
                <a:latin typeface="Aptos"/>
                <a:ea typeface="Aptos"/>
                <a:cs typeface="Aptos"/>
              </a:defRPr>
            </a:pPr>
            <a:r>
              <a:t>Reduces manual monitoring and operational effort.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1CDCE5A-7615-4541-BC32-8D11EFFABCE7}"/>
              </a:ext>
            </a:extLst>
          </p:cNvPr>
          <p:cNvSpPr>
            <a:spLocks noGrp="1"/>
          </p:cNvSpPr>
          <p:nvPr/>
        </p:nvSpPr>
        <p:spPr>
          <a:xfrm>
            <a:off x="749808" y="4965192"/>
            <a:ext cx="320040" cy="320040"/>
          </a:xfrm>
          <a:prstGeom prst="ellipse">
            <a:avLst/>
          </a:prstGeom>
          <a:solidFill>
            <a:srgbClr val="42B1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C700AD2-D6D7-437C-A92E-1288FDA8A771}"/>
              </a:ext>
            </a:extLst>
          </p:cNvPr>
          <p:cNvSpPr>
            <a:spLocks noGrp="1"/>
          </p:cNvSpPr>
          <p:nvPr/>
        </p:nvSpPr>
        <p:spPr>
          <a:xfrm>
            <a:off x="749808" y="4974336"/>
            <a:ext cx="320040" cy="30175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✓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2E64C66-298B-45EB-B47B-76DFBE961826}"/>
              </a:ext>
            </a:extLst>
          </p:cNvPr>
          <p:cNvSpPr>
            <a:spLocks noGrp="1"/>
          </p:cNvSpPr>
          <p:nvPr/>
        </p:nvSpPr>
        <p:spPr>
          <a:xfrm>
            <a:off x="1261872" y="4946904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Extensible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50363DD-1AEA-4F24-B3F4-3113B06F5357}"/>
              </a:ext>
            </a:extLst>
          </p:cNvPr>
          <p:cNvSpPr>
            <a:spLocks noGrp="1"/>
          </p:cNvSpPr>
          <p:nvPr/>
        </p:nvSpPr>
        <p:spPr>
          <a:xfrm>
            <a:off x="2971800" y="4946904"/>
            <a:ext cx="7132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50" b="0">
                <a:solidFill>
                  <a:srgbClr val="D6E0EA"/>
                </a:solidFill>
                <a:latin typeface="Aptos"/>
                <a:ea typeface="Aptos"/>
                <a:cs typeface="Aptos"/>
              </a:defRPr>
            </a:pPr>
            <a:r>
              <a:t>Ready for additional datasets and predictive use cases.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BE0E237E-A4EE-422C-9320-1C049C2A6399}"/>
              </a:ext>
            </a:extLst>
          </p:cNvPr>
          <p:cNvSpPr>
            <a:spLocks noGrp="1"/>
          </p:cNvSpPr>
          <p:nvPr/>
        </p:nvSpPr>
        <p:spPr>
          <a:xfrm>
            <a:off x="685800" y="5806440"/>
            <a:ext cx="1069848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65D699F-86DB-4723-986E-990657656CF5}"/>
              </a:ext>
            </a:extLst>
          </p:cNvPr>
          <p:cNvSpPr>
            <a:spLocks noGrp="1"/>
          </p:cNvSpPr>
          <p:nvPr/>
        </p:nvSpPr>
        <p:spPr>
          <a:xfrm>
            <a:off x="685800" y="5952744"/>
            <a:ext cx="10698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200" b="1">
                <a:solidFill>
                  <a:srgbClr val="0E233D"/>
                </a:solidFill>
                <a:latin typeface="Aptos"/>
                <a:ea typeface="Aptos"/>
                <a:cs typeface="Aptos"/>
              </a:defRPr>
            </a:pPr>
            <a:r>
              <a:t>RAW  →  TRUSTED  →  ANALYTICS  →  DECISION SUPPORT</a:t>
            </a:r>
          </a:p>
        </p:txBody>
      </p:sp>
    </p:spTree>
    <p:extLst>
      <p:ext uri="{BB962C8B-B14F-4D97-AF65-F5344CB8AC3E}">
        <p14:creationId xmlns:p14="http://schemas.microsoft.com/office/powerpoint/2010/main" val="2083045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54942-E2FB-7EA5-EB24-0F5C9BA000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THANK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2218460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1027</Words>
  <Application>Microsoft Office PowerPoint</Application>
  <DocSecurity>0</DocSecurity>
  <PresentationFormat>Widescreen</PresentationFormat>
  <Paragraphs>269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Dashboards</vt:lpstr>
      <vt:lpstr>PowerPoint Presentation</vt:lpstr>
      <vt:lpstr>PowerPoint Presentation</vt:lpstr>
      <vt:lpstr>PowerPoint Presentation</vt:lpstr>
      <vt:lpstr>PowerPoint Presentation</vt:lpstr>
      <vt:lpstr>                  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Mandepudi Sri Hema</cp:lastModifiedBy>
  <cp:revision>3</cp:revision>
  <dcterms:created xsi:type="dcterms:W3CDTF">2026-09-07T16:43:13Z</dcterms:created>
  <dcterms:modified xsi:type="dcterms:W3CDTF">2026-09-11T08:23:00Z</dcterms:modified>
</cp:coreProperties>
</file>